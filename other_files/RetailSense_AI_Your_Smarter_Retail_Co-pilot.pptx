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42127" y="4881891"/>
            <a:ext cx="8390945" cy="2650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542127" y="4881891"/>
            <a:ext cx="8390945" cy="2650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710"/>
              </a:lnSpc>
            </a:pPr>
            <a:r>
              <a:rPr dirty="0" sz="1450">
                <a:latin typeface="Arial MT"/>
                <a:cs typeface="Arial MT"/>
              </a:rPr>
              <a:t>G</a:t>
            </a:r>
            <a:r>
              <a:rPr dirty="0" sz="1450" spc="325">
                <a:latin typeface="Arial MT"/>
                <a:cs typeface="Arial MT"/>
              </a:rPr>
              <a:t> </a:t>
            </a:r>
            <a:r>
              <a:rPr dirty="0" sz="1450" spc="-65">
                <a:latin typeface="Arial MT"/>
                <a:cs typeface="Arial MT"/>
              </a:rPr>
              <a:t>NotebookLM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710"/>
              </a:lnSpc>
            </a:pPr>
            <a:r>
              <a:rPr dirty="0" sz="1450">
                <a:latin typeface="Arial MT"/>
                <a:cs typeface="Arial MT"/>
              </a:rPr>
              <a:t>G</a:t>
            </a:r>
            <a:r>
              <a:rPr dirty="0" sz="1450" spc="325">
                <a:latin typeface="Arial MT"/>
                <a:cs typeface="Arial MT"/>
              </a:rPr>
              <a:t> </a:t>
            </a:r>
            <a:r>
              <a:rPr dirty="0" sz="1450" spc="-65">
                <a:latin typeface="Arial MT"/>
                <a:cs typeface="Arial MT"/>
              </a:rPr>
              <a:t>NotebookLM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55154" y="2579828"/>
            <a:ext cx="6771640" cy="5190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rgbClr val="24242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680256" y="2500998"/>
            <a:ext cx="6621780" cy="5255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rgbClr val="74747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710"/>
              </a:lnSpc>
            </a:pPr>
            <a:r>
              <a:rPr dirty="0" sz="1450">
                <a:latin typeface="Arial MT"/>
                <a:cs typeface="Arial MT"/>
              </a:rPr>
              <a:t>G</a:t>
            </a:r>
            <a:r>
              <a:rPr dirty="0" sz="1450" spc="325">
                <a:latin typeface="Arial MT"/>
                <a:cs typeface="Arial MT"/>
              </a:rPr>
              <a:t> </a:t>
            </a:r>
            <a:r>
              <a:rPr dirty="0" sz="1450" spc="-65">
                <a:latin typeface="Arial MT"/>
                <a:cs typeface="Arial MT"/>
              </a:rPr>
              <a:t>NotebookLM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710"/>
              </a:lnSpc>
            </a:pPr>
            <a:r>
              <a:rPr dirty="0" sz="1450">
                <a:latin typeface="Arial MT"/>
                <a:cs typeface="Arial MT"/>
              </a:rPr>
              <a:t>G</a:t>
            </a:r>
            <a:r>
              <a:rPr dirty="0" sz="1450" spc="325">
                <a:latin typeface="Arial MT"/>
                <a:cs typeface="Arial MT"/>
              </a:rPr>
              <a:t> </a:t>
            </a:r>
            <a:r>
              <a:rPr dirty="0" sz="1450" spc="-65">
                <a:latin typeface="Arial MT"/>
                <a:cs typeface="Arial MT"/>
              </a:rPr>
              <a:t>NotebookLM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710"/>
              </a:lnSpc>
            </a:pPr>
            <a:r>
              <a:rPr dirty="0" sz="1450">
                <a:latin typeface="Arial MT"/>
                <a:cs typeface="Arial MT"/>
              </a:rPr>
              <a:t>G</a:t>
            </a:r>
            <a:r>
              <a:rPr dirty="0" sz="1450" spc="325">
                <a:latin typeface="Arial MT"/>
                <a:cs typeface="Arial MT"/>
              </a:rPr>
              <a:t> </a:t>
            </a:r>
            <a:r>
              <a:rPr dirty="0" sz="1450" spc="-65">
                <a:latin typeface="Arial MT"/>
                <a:cs typeface="Arial MT"/>
              </a:rPr>
              <a:t>NotebookLM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9805" y="221191"/>
            <a:ext cx="15575588" cy="2733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3302" y="3149600"/>
            <a:ext cx="7106920" cy="5187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6105975" y="9431901"/>
            <a:ext cx="1239317" cy="249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710"/>
              </a:lnSpc>
            </a:pPr>
            <a:r>
              <a:rPr dirty="0" sz="1450">
                <a:latin typeface="Arial MT"/>
                <a:cs typeface="Arial MT"/>
              </a:rPr>
              <a:t>G</a:t>
            </a:r>
            <a:r>
              <a:rPr dirty="0" sz="1450" spc="325">
                <a:latin typeface="Arial MT"/>
                <a:cs typeface="Arial MT"/>
              </a:rPr>
              <a:t> </a:t>
            </a:r>
            <a:r>
              <a:rPr dirty="0" sz="1450" spc="-65">
                <a:latin typeface="Arial MT"/>
                <a:cs typeface="Arial MT"/>
              </a:rPr>
              <a:t>NotebookLM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1700" y="2197100"/>
            <a:ext cx="2971800" cy="2921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2997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360"/>
              </a:spcBef>
            </a:pPr>
            <a:r>
              <a:rPr dirty="0" sz="10600" spc="-320">
                <a:solidFill>
                  <a:srgbClr val="2A2A2A"/>
                </a:solidFill>
                <a:latin typeface="Arial MT"/>
                <a:cs typeface="Arial MT"/>
              </a:rPr>
              <a:t>RetailSense</a:t>
            </a:r>
            <a:r>
              <a:rPr dirty="0" sz="1060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10600" spc="-590">
                <a:solidFill>
                  <a:srgbClr val="2D2D2D"/>
                </a:solidFill>
                <a:latin typeface="Arial MT"/>
                <a:cs typeface="Arial MT"/>
              </a:rPr>
              <a:t>AI</a:t>
            </a:r>
            <a:endParaRPr sz="10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80"/>
              </a:spcBef>
            </a:pPr>
            <a:r>
              <a:rPr dirty="0" sz="4000">
                <a:solidFill>
                  <a:srgbClr val="212121"/>
                </a:solidFill>
              </a:rPr>
              <a:t>Your</a:t>
            </a:r>
            <a:r>
              <a:rPr dirty="0" sz="4000" spc="-114">
                <a:solidFill>
                  <a:srgbClr val="212121"/>
                </a:solidFill>
              </a:rPr>
              <a:t> </a:t>
            </a:r>
            <a:r>
              <a:rPr dirty="0" sz="4000" spc="-10">
                <a:solidFill>
                  <a:srgbClr val="242424"/>
                </a:solidFill>
              </a:rPr>
              <a:t>AI</a:t>
            </a:r>
            <a:r>
              <a:rPr dirty="0" sz="4000" spc="-265">
                <a:solidFill>
                  <a:srgbClr val="242424"/>
                </a:solidFill>
              </a:rPr>
              <a:t> </a:t>
            </a:r>
            <a:r>
              <a:rPr dirty="0" sz="4000" spc="140">
                <a:solidFill>
                  <a:srgbClr val="161616"/>
                </a:solidFill>
              </a:rPr>
              <a:t>Co-</a:t>
            </a:r>
            <a:r>
              <a:rPr dirty="0" sz="4000" spc="110">
                <a:solidFill>
                  <a:srgbClr val="161616"/>
                </a:solidFill>
              </a:rPr>
              <a:t>pilot</a:t>
            </a:r>
            <a:r>
              <a:rPr dirty="0" sz="4000" spc="160">
                <a:solidFill>
                  <a:srgbClr val="161616"/>
                </a:solidFill>
              </a:rPr>
              <a:t> </a:t>
            </a:r>
            <a:r>
              <a:rPr dirty="0" sz="4000">
                <a:solidFill>
                  <a:srgbClr val="1F1F1F"/>
                </a:solidFill>
              </a:rPr>
              <a:t>for</a:t>
            </a:r>
            <a:r>
              <a:rPr dirty="0" sz="4000" spc="-120">
                <a:solidFill>
                  <a:srgbClr val="1F1F1F"/>
                </a:solidFill>
              </a:rPr>
              <a:t> </a:t>
            </a:r>
            <a:r>
              <a:rPr dirty="0" sz="4000" spc="70">
                <a:solidFill>
                  <a:srgbClr val="1C1C1C"/>
                </a:solidFill>
              </a:rPr>
              <a:t>Smarter</a:t>
            </a:r>
            <a:r>
              <a:rPr dirty="0" sz="4000" spc="-70">
                <a:solidFill>
                  <a:srgbClr val="1C1C1C"/>
                </a:solidFill>
              </a:rPr>
              <a:t> </a:t>
            </a:r>
            <a:r>
              <a:rPr dirty="0" sz="4000" spc="70">
                <a:solidFill>
                  <a:srgbClr val="1C1C1C"/>
                </a:solidFill>
              </a:rPr>
              <a:t>Retail.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400" y="3517900"/>
            <a:ext cx="927100" cy="482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26900" y="1003300"/>
            <a:ext cx="5448300" cy="75311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71736" y="2162175"/>
            <a:ext cx="9658985" cy="1987550"/>
          </a:xfrm>
          <a:prstGeom prst="rect"/>
        </p:spPr>
        <p:txBody>
          <a:bodyPr wrap="square" lIns="0" tIns="154305" rIns="0" bIns="0" rtlCol="0" vert="horz">
            <a:spAutoFit/>
          </a:bodyPr>
          <a:lstStyle/>
          <a:p>
            <a:pPr marL="25400" marR="5080" indent="-13335">
              <a:lnSpc>
                <a:spcPts val="7200"/>
              </a:lnSpc>
              <a:spcBef>
                <a:spcPts val="1215"/>
              </a:spcBef>
              <a:tabLst>
                <a:tab pos="1958339" algn="l"/>
              </a:tabLst>
            </a:pPr>
            <a:r>
              <a:rPr dirty="0" sz="6850" spc="-245">
                <a:solidFill>
                  <a:srgbClr val="242424"/>
                </a:solidFill>
              </a:rPr>
              <a:t>The</a:t>
            </a:r>
            <a:r>
              <a:rPr dirty="0" sz="6850" spc="-380">
                <a:solidFill>
                  <a:srgbClr val="242424"/>
                </a:solidFill>
              </a:rPr>
              <a:t> </a:t>
            </a:r>
            <a:r>
              <a:rPr dirty="0" sz="6850" spc="-285">
                <a:solidFill>
                  <a:srgbClr val="262626"/>
                </a:solidFill>
              </a:rPr>
              <a:t>way</a:t>
            </a:r>
            <a:r>
              <a:rPr dirty="0" sz="6850" spc="-350">
                <a:solidFill>
                  <a:srgbClr val="262626"/>
                </a:solidFill>
              </a:rPr>
              <a:t> </a:t>
            </a:r>
            <a:r>
              <a:rPr dirty="0" sz="6850" spc="-229">
                <a:solidFill>
                  <a:srgbClr val="282828"/>
                </a:solidFill>
              </a:rPr>
              <a:t>we</a:t>
            </a:r>
            <a:r>
              <a:rPr dirty="0" sz="6850" spc="-665">
                <a:solidFill>
                  <a:srgbClr val="282828"/>
                </a:solidFill>
              </a:rPr>
              <a:t> </a:t>
            </a:r>
            <a:r>
              <a:rPr dirty="0" sz="6850" spc="-220">
                <a:solidFill>
                  <a:srgbClr val="262626"/>
                </a:solidFill>
              </a:rPr>
              <a:t>manage</a:t>
            </a:r>
            <a:r>
              <a:rPr dirty="0" sz="6850" spc="-370">
                <a:solidFill>
                  <a:srgbClr val="262626"/>
                </a:solidFill>
              </a:rPr>
              <a:t> </a:t>
            </a:r>
            <a:r>
              <a:rPr dirty="0" sz="6850" spc="105">
                <a:solidFill>
                  <a:srgbClr val="242424"/>
                </a:solidFill>
              </a:rPr>
              <a:t>retail </a:t>
            </a:r>
            <a:r>
              <a:rPr dirty="0" sz="6850" spc="-25">
                <a:solidFill>
                  <a:srgbClr val="242424"/>
                </a:solidFill>
              </a:rPr>
              <a:t>is</a:t>
            </a:r>
            <a:r>
              <a:rPr dirty="0" sz="6850">
                <a:solidFill>
                  <a:srgbClr val="242424"/>
                </a:solidFill>
              </a:rPr>
              <a:t>	</a:t>
            </a:r>
            <a:r>
              <a:rPr dirty="0" sz="6850" spc="-10">
                <a:solidFill>
                  <a:srgbClr val="242424"/>
                </a:solidFill>
              </a:rPr>
              <a:t>longer</a:t>
            </a:r>
            <a:r>
              <a:rPr dirty="0" sz="6850" spc="-465">
                <a:solidFill>
                  <a:srgbClr val="242424"/>
                </a:solidFill>
              </a:rPr>
              <a:t> </a:t>
            </a:r>
            <a:r>
              <a:rPr dirty="0" sz="6850" spc="-10"/>
              <a:t>working.</a:t>
            </a:r>
            <a:endParaRPr sz="6850"/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10"/>
              </a:lnSpc>
            </a:pPr>
            <a:r>
              <a:rPr dirty="0" sz="1450">
                <a:latin typeface="Arial MT"/>
                <a:cs typeface="Arial MT"/>
              </a:rPr>
              <a:t>G</a:t>
            </a:r>
            <a:r>
              <a:rPr dirty="0" sz="1450" spc="325">
                <a:latin typeface="Arial MT"/>
                <a:cs typeface="Arial MT"/>
              </a:rPr>
              <a:t> </a:t>
            </a:r>
            <a:r>
              <a:rPr dirty="0" sz="1450" spc="-65">
                <a:latin typeface="Arial MT"/>
                <a:cs typeface="Arial MT"/>
              </a:rPr>
              <a:t>NotebookLM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82046" y="4421716"/>
            <a:ext cx="9122410" cy="283210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5875" marR="25400" indent="-3810">
              <a:lnSpc>
                <a:spcPct val="88800"/>
              </a:lnSpc>
              <a:spcBef>
                <a:spcPts val="575"/>
              </a:spcBef>
            </a:pPr>
            <a:r>
              <a:rPr dirty="0" sz="3300" spc="-90">
                <a:latin typeface="Calibri"/>
                <a:cs typeface="Calibri"/>
              </a:rPr>
              <a:t>Running</a:t>
            </a:r>
            <a:r>
              <a:rPr dirty="0" sz="3300" spc="-10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a</a:t>
            </a:r>
            <a:r>
              <a:rPr dirty="0" sz="3300" spc="-14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successful</a:t>
            </a:r>
            <a:r>
              <a:rPr dirty="0" sz="3300" spc="-155">
                <a:latin typeface="Calibri"/>
                <a:cs typeface="Calibri"/>
              </a:rPr>
              <a:t> </a:t>
            </a:r>
            <a:r>
              <a:rPr dirty="0" sz="3300" spc="-45">
                <a:latin typeface="Calibri"/>
                <a:cs typeface="Calibri"/>
              </a:rPr>
              <a:t>retail</a:t>
            </a:r>
            <a:r>
              <a:rPr dirty="0" sz="3300" spc="-220">
                <a:latin typeface="Calibri"/>
                <a:cs typeface="Calibri"/>
              </a:rPr>
              <a:t> </a:t>
            </a:r>
            <a:r>
              <a:rPr dirty="0" sz="3300" spc="-30">
                <a:latin typeface="Calibri"/>
                <a:cs typeface="Calibri"/>
              </a:rPr>
              <a:t>business</a:t>
            </a:r>
            <a:r>
              <a:rPr dirty="0" sz="3300" spc="7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is</a:t>
            </a:r>
            <a:r>
              <a:rPr dirty="0" sz="3300" spc="-175">
                <a:latin typeface="Calibri"/>
                <a:cs typeface="Calibri"/>
              </a:rPr>
              <a:t> </a:t>
            </a:r>
            <a:r>
              <a:rPr dirty="0" sz="3300" spc="-95">
                <a:latin typeface="Calibri"/>
                <a:cs typeface="Calibri"/>
              </a:rPr>
              <a:t>harder</a:t>
            </a:r>
            <a:r>
              <a:rPr dirty="0" sz="3300" spc="15">
                <a:latin typeface="Calibri"/>
                <a:cs typeface="Calibri"/>
              </a:rPr>
              <a:t> </a:t>
            </a:r>
            <a:r>
              <a:rPr dirty="0" sz="3300" spc="-135">
                <a:latin typeface="Calibri"/>
                <a:cs typeface="Calibri"/>
              </a:rPr>
              <a:t>than</a:t>
            </a:r>
            <a:r>
              <a:rPr dirty="0" sz="3300" spc="-5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ever. </a:t>
            </a:r>
            <a:r>
              <a:rPr dirty="0" sz="3300" spc="-105">
                <a:latin typeface="Calibri"/>
                <a:cs typeface="Calibri"/>
              </a:rPr>
              <a:t>You</a:t>
            </a:r>
            <a:r>
              <a:rPr dirty="0" sz="3300" spc="-85">
                <a:latin typeface="Calibri"/>
                <a:cs typeface="Calibri"/>
              </a:rPr>
              <a:t> </a:t>
            </a:r>
            <a:r>
              <a:rPr dirty="0" sz="3300" spc="-60">
                <a:latin typeface="Calibri"/>
                <a:cs typeface="Calibri"/>
              </a:rPr>
              <a:t>are</a:t>
            </a:r>
            <a:r>
              <a:rPr dirty="0" sz="3300" spc="-114">
                <a:latin typeface="Calibri"/>
                <a:cs typeface="Calibri"/>
              </a:rPr>
              <a:t> </a:t>
            </a:r>
            <a:r>
              <a:rPr dirty="0" sz="3300" spc="-105">
                <a:latin typeface="Calibri"/>
                <a:cs typeface="Calibri"/>
              </a:rPr>
              <a:t>surrounded</a:t>
            </a:r>
            <a:r>
              <a:rPr dirty="0" sz="3300" spc="95">
                <a:latin typeface="Calibri"/>
                <a:cs typeface="Calibri"/>
              </a:rPr>
              <a:t> </a:t>
            </a:r>
            <a:r>
              <a:rPr dirty="0" sz="3300" spc="-100">
                <a:latin typeface="Calibri"/>
                <a:cs typeface="Calibri"/>
              </a:rPr>
              <a:t>by</a:t>
            </a:r>
            <a:r>
              <a:rPr dirty="0" sz="3300" spc="-85">
                <a:latin typeface="Calibri"/>
                <a:cs typeface="Calibri"/>
              </a:rPr>
              <a:t> </a:t>
            </a:r>
            <a:r>
              <a:rPr dirty="0" sz="3300" spc="-25">
                <a:latin typeface="Calibri"/>
                <a:cs typeface="Calibri"/>
              </a:rPr>
              <a:t>data</a:t>
            </a:r>
            <a:r>
              <a:rPr dirty="0" sz="3300" spc="-165">
                <a:latin typeface="Calibri"/>
                <a:cs typeface="Calibri"/>
              </a:rPr>
              <a:t> </a:t>
            </a:r>
            <a:r>
              <a:rPr dirty="0" sz="3300" spc="-155">
                <a:latin typeface="Calibri"/>
                <a:cs typeface="Calibri"/>
              </a:rPr>
              <a:t>from</a:t>
            </a:r>
            <a:r>
              <a:rPr dirty="0" sz="3300" spc="-3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sales</a:t>
            </a:r>
            <a:r>
              <a:rPr dirty="0" sz="3300" spc="-114">
                <a:latin typeface="Calibri"/>
                <a:cs typeface="Calibri"/>
              </a:rPr>
              <a:t> </a:t>
            </a:r>
            <a:r>
              <a:rPr dirty="0" sz="3300" spc="-80">
                <a:latin typeface="Calibri"/>
                <a:cs typeface="Calibri"/>
              </a:rPr>
              <a:t>and</a:t>
            </a:r>
            <a:r>
              <a:rPr dirty="0" sz="3300" spc="-10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stock </a:t>
            </a:r>
            <a:r>
              <a:rPr dirty="0" sz="3300" spc="-30">
                <a:latin typeface="Calibri"/>
                <a:cs typeface="Calibri"/>
              </a:rPr>
              <a:t>systems,</a:t>
            </a:r>
            <a:r>
              <a:rPr dirty="0" sz="3300" spc="-160">
                <a:latin typeface="Calibri"/>
                <a:cs typeface="Calibri"/>
              </a:rPr>
              <a:t> </a:t>
            </a:r>
            <a:r>
              <a:rPr dirty="0" sz="3300" spc="-90">
                <a:latin typeface="Calibri"/>
                <a:cs typeface="Calibri"/>
              </a:rPr>
              <a:t>but</a:t>
            </a:r>
            <a:r>
              <a:rPr dirty="0" sz="3300" spc="-95">
                <a:latin typeface="Calibri"/>
                <a:cs typeface="Calibri"/>
              </a:rPr>
              <a:t> </a:t>
            </a:r>
            <a:r>
              <a:rPr dirty="0" sz="3300" spc="-50">
                <a:latin typeface="Calibri"/>
                <a:cs typeface="Calibri"/>
              </a:rPr>
              <a:t>starved</a:t>
            </a:r>
            <a:r>
              <a:rPr dirty="0" sz="3300" spc="-140">
                <a:latin typeface="Calibri"/>
                <a:cs typeface="Calibri"/>
              </a:rPr>
              <a:t> </a:t>
            </a:r>
            <a:r>
              <a:rPr dirty="0" sz="3300" spc="-150">
                <a:latin typeface="Calibri"/>
                <a:cs typeface="Calibri"/>
              </a:rPr>
              <a:t>of</a:t>
            </a:r>
            <a:r>
              <a:rPr dirty="0" sz="3300" spc="-35">
                <a:latin typeface="Calibri"/>
                <a:cs typeface="Calibri"/>
              </a:rPr>
              <a:t> </a:t>
            </a:r>
            <a:r>
              <a:rPr dirty="0" sz="3300" spc="-114">
                <a:latin typeface="Calibri"/>
                <a:cs typeface="Calibri"/>
              </a:rPr>
              <a:t>the</a:t>
            </a:r>
            <a:r>
              <a:rPr dirty="0" sz="3300" spc="-75">
                <a:latin typeface="Calibri"/>
                <a:cs typeface="Calibri"/>
              </a:rPr>
              <a:t> </a:t>
            </a:r>
            <a:r>
              <a:rPr dirty="0" sz="3300" spc="-35">
                <a:latin typeface="Calibri"/>
                <a:cs typeface="Calibri"/>
              </a:rPr>
              <a:t>simple</a:t>
            </a:r>
            <a:r>
              <a:rPr dirty="0" sz="3300" spc="-150">
                <a:latin typeface="Calibri"/>
                <a:cs typeface="Calibri"/>
              </a:rPr>
              <a:t> </a:t>
            </a:r>
            <a:r>
              <a:rPr dirty="0" sz="3300" spc="-60">
                <a:latin typeface="Calibri"/>
                <a:cs typeface="Calibri"/>
              </a:rPr>
              <a:t>insi•hts</a:t>
            </a:r>
            <a:r>
              <a:rPr dirty="0" sz="3300" spc="40">
                <a:latin typeface="Calibri"/>
                <a:cs typeface="Calibri"/>
              </a:rPr>
              <a:t> </a:t>
            </a:r>
            <a:r>
              <a:rPr dirty="0" sz="3300" spc="-90">
                <a:latin typeface="Calibri"/>
                <a:cs typeface="Calibri"/>
              </a:rPr>
              <a:t>needed</a:t>
            </a:r>
            <a:r>
              <a:rPr dirty="0" sz="3300" spc="-40">
                <a:latin typeface="Calibri"/>
                <a:cs typeface="Calibri"/>
              </a:rPr>
              <a:t> </a:t>
            </a:r>
            <a:r>
              <a:rPr dirty="0" sz="3300" spc="-25">
                <a:latin typeface="Calibri"/>
                <a:cs typeface="Calibri"/>
              </a:rPr>
              <a:t>to </a:t>
            </a:r>
            <a:r>
              <a:rPr dirty="0" sz="3300" spc="-75">
                <a:latin typeface="Calibri"/>
                <a:cs typeface="Calibri"/>
              </a:rPr>
              <a:t>make</a:t>
            </a:r>
            <a:r>
              <a:rPr dirty="0" sz="3300" spc="-85">
                <a:latin typeface="Calibri"/>
                <a:cs typeface="Calibri"/>
              </a:rPr>
              <a:t> </a:t>
            </a:r>
            <a:r>
              <a:rPr dirty="0" sz="3300" spc="-30">
                <a:latin typeface="Calibri"/>
                <a:cs typeface="Calibri"/>
              </a:rPr>
              <a:t>critical</a:t>
            </a:r>
            <a:r>
              <a:rPr dirty="0" sz="3300" spc="-15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decisions.</a:t>
            </a:r>
            <a:endParaRPr sz="3300">
              <a:latin typeface="Calibri"/>
              <a:cs typeface="Calibri"/>
            </a:endParaRPr>
          </a:p>
          <a:p>
            <a:pPr marL="16510" marR="5080" indent="-4445">
              <a:lnSpc>
                <a:spcPts val="3600"/>
              </a:lnSpc>
              <a:spcBef>
                <a:spcPts val="409"/>
              </a:spcBef>
            </a:pPr>
            <a:r>
              <a:rPr dirty="0" sz="3300" spc="-40">
                <a:latin typeface="Calibri"/>
                <a:cs typeface="Calibri"/>
              </a:rPr>
              <a:t>Retailers</a:t>
            </a:r>
            <a:r>
              <a:rPr dirty="0" sz="3300" spc="-80">
                <a:latin typeface="Calibri"/>
                <a:cs typeface="Calibri"/>
              </a:rPr>
              <a:t> </a:t>
            </a:r>
            <a:r>
              <a:rPr dirty="0" sz="3300" spc="-65">
                <a:latin typeface="Calibri"/>
                <a:cs typeface="Calibri"/>
              </a:rPr>
              <a:t>consistently</a:t>
            </a:r>
            <a:r>
              <a:rPr dirty="0" sz="3300" spc="65">
                <a:latin typeface="Calibri"/>
                <a:cs typeface="Calibri"/>
              </a:rPr>
              <a:t> </a:t>
            </a:r>
            <a:r>
              <a:rPr dirty="0" sz="3300" spc="-35">
                <a:latin typeface="Calibri"/>
                <a:cs typeface="Calibri"/>
              </a:rPr>
              <a:t>struggle</a:t>
            </a:r>
            <a:r>
              <a:rPr dirty="0" sz="3300" spc="-95">
                <a:latin typeface="Calibri"/>
                <a:cs typeface="Calibri"/>
              </a:rPr>
              <a:t> </a:t>
            </a:r>
            <a:r>
              <a:rPr dirty="0" sz="3300" spc="-125">
                <a:latin typeface="Calibri"/>
                <a:cs typeface="Calibri"/>
              </a:rPr>
              <a:t>with</a:t>
            </a:r>
            <a:r>
              <a:rPr dirty="0" sz="3300" spc="-60">
                <a:latin typeface="Calibri"/>
                <a:cs typeface="Calibri"/>
              </a:rPr>
              <a:t> </a:t>
            </a:r>
            <a:r>
              <a:rPr dirty="0" sz="3300" spc="-70">
                <a:latin typeface="Calibri"/>
                <a:cs typeface="Calibri"/>
              </a:rPr>
              <a:t>tracking</a:t>
            </a:r>
            <a:r>
              <a:rPr dirty="0" sz="3300" spc="-9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sales,</a:t>
            </a:r>
            <a:r>
              <a:rPr dirty="0" sz="3300" spc="-10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stock </a:t>
            </a:r>
            <a:r>
              <a:rPr dirty="0" sz="3300" spc="-30">
                <a:latin typeface="Calibri"/>
                <a:cs typeface="Calibri"/>
              </a:rPr>
              <a:t>levels,</a:t>
            </a:r>
            <a:r>
              <a:rPr dirty="0" sz="3300" spc="-165">
                <a:latin typeface="Calibri"/>
                <a:cs typeface="Calibri"/>
              </a:rPr>
              <a:t> </a:t>
            </a:r>
            <a:r>
              <a:rPr dirty="0" sz="3300" spc="-95">
                <a:latin typeface="Calibri"/>
                <a:cs typeface="Calibri"/>
              </a:rPr>
              <a:t>and </a:t>
            </a:r>
            <a:r>
              <a:rPr dirty="0" sz="3300" spc="-70">
                <a:latin typeface="Calibri"/>
                <a:cs typeface="Calibri"/>
              </a:rPr>
              <a:t>forecasting</a:t>
            </a:r>
            <a:r>
              <a:rPr dirty="0" sz="3300" spc="-7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demand.</a:t>
            </a:r>
            <a:endParaRPr sz="3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1900" y="7607300"/>
            <a:ext cx="1130300" cy="1257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4600" y="5905500"/>
            <a:ext cx="1117600" cy="13081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9200" y="2717800"/>
            <a:ext cx="1181100" cy="1244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0000" y="4394200"/>
            <a:ext cx="1143000" cy="1092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53565" y="680966"/>
            <a:ext cx="15019019" cy="1598295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1185"/>
              </a:spcBef>
            </a:pPr>
            <a:r>
              <a:rPr dirty="0" sz="5350">
                <a:solidFill>
                  <a:srgbClr val="2A2A2A"/>
                </a:solidFill>
              </a:rPr>
              <a:t>The</a:t>
            </a:r>
            <a:r>
              <a:rPr dirty="0" sz="5350" spc="-475">
                <a:solidFill>
                  <a:srgbClr val="2A2A2A"/>
                </a:solidFill>
              </a:rPr>
              <a:t> </a:t>
            </a:r>
            <a:r>
              <a:rPr dirty="0" sz="5350" spc="80">
                <a:solidFill>
                  <a:srgbClr val="262626"/>
                </a:solidFill>
              </a:rPr>
              <a:t>Hidden</a:t>
            </a:r>
            <a:r>
              <a:rPr dirty="0" sz="5350" spc="-320">
                <a:solidFill>
                  <a:srgbClr val="262626"/>
                </a:solidFill>
              </a:rPr>
              <a:t> </a:t>
            </a:r>
            <a:r>
              <a:rPr dirty="0" sz="5350" spc="135">
                <a:solidFill>
                  <a:srgbClr val="282828"/>
                </a:solidFill>
              </a:rPr>
              <a:t>Costs</a:t>
            </a:r>
            <a:r>
              <a:rPr dirty="0" sz="5350" spc="-160">
                <a:solidFill>
                  <a:srgbClr val="282828"/>
                </a:solidFill>
              </a:rPr>
              <a:t> </a:t>
            </a:r>
            <a:r>
              <a:rPr dirty="0" sz="5350" spc="150">
                <a:solidFill>
                  <a:srgbClr val="2D2D2D"/>
                </a:solidFill>
              </a:rPr>
              <a:t>of</a:t>
            </a:r>
            <a:r>
              <a:rPr dirty="0" sz="5350" spc="-125">
                <a:solidFill>
                  <a:srgbClr val="2D2D2D"/>
                </a:solidFill>
              </a:rPr>
              <a:t> </a:t>
            </a:r>
            <a:r>
              <a:rPr dirty="0" sz="5350" spc="-10">
                <a:solidFill>
                  <a:srgbClr val="262626"/>
                </a:solidFill>
              </a:rPr>
              <a:t>‘Good</a:t>
            </a:r>
            <a:r>
              <a:rPr dirty="0" sz="5350" spc="-360">
                <a:solidFill>
                  <a:srgbClr val="262626"/>
                </a:solidFill>
              </a:rPr>
              <a:t> </a:t>
            </a:r>
            <a:r>
              <a:rPr dirty="0" sz="5350" spc="-10">
                <a:solidFill>
                  <a:srgbClr val="2A2A2A"/>
                </a:solidFill>
              </a:rPr>
              <a:t>Enough’</a:t>
            </a:r>
            <a:endParaRPr sz="5350"/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3450" spc="-310">
                <a:solidFill>
                  <a:srgbClr val="000000"/>
                </a:solidFill>
                <a:latin typeface="Calibri"/>
                <a:cs typeface="Calibri"/>
              </a:rPr>
              <a:t>Manual</a:t>
            </a:r>
            <a:r>
              <a:rPr dirty="0" sz="3450" spc="7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150">
                <a:solidFill>
                  <a:srgbClr val="000000"/>
                </a:solidFill>
                <a:latin typeface="Calibri"/>
                <a:cs typeface="Calibri"/>
              </a:rPr>
              <a:t>analysis</a:t>
            </a:r>
            <a:r>
              <a:rPr dirty="0" sz="3450" spc="6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2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dirty="0" sz="3450" spc="-34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200">
                <a:solidFill>
                  <a:srgbClr val="000000"/>
                </a:solidFill>
                <a:latin typeface="Calibri"/>
                <a:cs typeface="Calibri"/>
              </a:rPr>
              <a:t>not</a:t>
            </a:r>
            <a:r>
              <a:rPr dirty="0" sz="3450" spc="-2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140">
                <a:solidFill>
                  <a:srgbClr val="000000"/>
                </a:solidFill>
                <a:latin typeface="Calibri"/>
                <a:cs typeface="Calibri"/>
              </a:rPr>
              <a:t>just</a:t>
            </a:r>
            <a:r>
              <a:rPr dirty="0" sz="3450" spc="-114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229">
                <a:solidFill>
                  <a:srgbClr val="000000"/>
                </a:solidFill>
                <a:latin typeface="Calibri"/>
                <a:cs typeface="Calibri"/>
              </a:rPr>
              <a:t>slow;</a:t>
            </a:r>
            <a:r>
              <a:rPr dirty="0" sz="3450" spc="-2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165">
                <a:solidFill>
                  <a:srgbClr val="000000"/>
                </a:solidFill>
                <a:latin typeface="Calibri"/>
                <a:cs typeface="Calibri"/>
              </a:rPr>
              <a:t>it</a:t>
            </a:r>
            <a:r>
              <a:rPr dirty="0" sz="3450" spc="-14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195">
                <a:solidFill>
                  <a:srgbClr val="000000"/>
                </a:solidFill>
                <a:latin typeface="Calibri"/>
                <a:cs typeface="Calibri"/>
              </a:rPr>
              <a:t>directly</a:t>
            </a:r>
            <a:r>
              <a:rPr dirty="0" sz="3450" spc="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185">
                <a:solidFill>
                  <a:srgbClr val="000000"/>
                </a:solidFill>
                <a:latin typeface="Calibri"/>
                <a:cs typeface="Calibri"/>
              </a:rPr>
              <a:t>impacts</a:t>
            </a:r>
            <a:r>
              <a:rPr dirty="0" sz="3450" spc="-2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260">
                <a:solidFill>
                  <a:srgbClr val="000000"/>
                </a:solidFill>
                <a:latin typeface="Calibri"/>
                <a:cs typeface="Calibri"/>
              </a:rPr>
              <a:t>your</a:t>
            </a:r>
            <a:r>
              <a:rPr dirty="0" sz="3450" spc="-1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270">
                <a:solidFill>
                  <a:srgbClr val="000000"/>
                </a:solidFill>
                <a:latin typeface="Calibri"/>
                <a:cs typeface="Calibri"/>
              </a:rPr>
              <a:t>bottom</a:t>
            </a:r>
            <a:r>
              <a:rPr dirty="0" sz="3450" spc="-4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225">
                <a:solidFill>
                  <a:srgbClr val="000000"/>
                </a:solidFill>
                <a:latin typeface="Calibri"/>
                <a:cs typeface="Calibri"/>
              </a:rPr>
              <a:t>line.</a:t>
            </a:r>
            <a:r>
              <a:rPr dirty="0" sz="3450" spc="-5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175">
                <a:solidFill>
                  <a:srgbClr val="000000"/>
                </a:solidFill>
                <a:latin typeface="Calibri"/>
                <a:cs typeface="Calibri"/>
              </a:rPr>
              <a:t>These</a:t>
            </a:r>
            <a:r>
              <a:rPr dirty="0" sz="3450" spc="-8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24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dirty="0" sz="3450" spc="-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245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dirty="0" sz="3450" spc="-17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185">
                <a:solidFill>
                  <a:srgbClr val="000000"/>
                </a:solidFill>
                <a:latin typeface="Calibri"/>
                <a:cs typeface="Calibri"/>
              </a:rPr>
              <a:t>daily</a:t>
            </a:r>
            <a:r>
              <a:rPr dirty="0" sz="3450" spc="-14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450" spc="-70">
                <a:solidFill>
                  <a:srgbClr val="000000"/>
                </a:solidFill>
                <a:latin typeface="Calibri"/>
                <a:cs typeface="Calibri"/>
              </a:rPr>
              <a:t>realities: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10"/>
              </a:lnSpc>
            </a:pPr>
            <a:r>
              <a:rPr dirty="0" sz="1450">
                <a:latin typeface="Arial MT"/>
                <a:cs typeface="Arial MT"/>
              </a:rPr>
              <a:t>G</a:t>
            </a:r>
            <a:r>
              <a:rPr dirty="0" sz="1450" spc="325">
                <a:latin typeface="Arial MT"/>
                <a:cs typeface="Arial MT"/>
              </a:rPr>
              <a:t> </a:t>
            </a:r>
            <a:r>
              <a:rPr dirty="0" sz="1450" spc="-65">
                <a:latin typeface="Arial MT"/>
                <a:cs typeface="Arial MT"/>
              </a:rPr>
              <a:t>NotebookLM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44281" y="2810933"/>
            <a:ext cx="13072744" cy="60852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7305">
              <a:lnSpc>
                <a:spcPts val="3440"/>
              </a:lnSpc>
              <a:spcBef>
                <a:spcPts val="114"/>
              </a:spcBef>
            </a:pPr>
            <a:r>
              <a:rPr dirty="0" sz="2900">
                <a:solidFill>
                  <a:srgbClr val="161616"/>
                </a:solidFill>
                <a:latin typeface="Arial MT"/>
                <a:cs typeface="Arial MT"/>
              </a:rPr>
              <a:t>Lost</a:t>
            </a:r>
            <a:r>
              <a:rPr dirty="0" sz="2900" spc="5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900" spc="-10">
                <a:solidFill>
                  <a:srgbClr val="181818"/>
                </a:solidFill>
                <a:latin typeface="Arial MT"/>
                <a:cs typeface="Arial MT"/>
              </a:rPr>
              <a:t>Revenue</a:t>
            </a:r>
            <a:endParaRPr sz="2900">
              <a:latin typeface="Arial MT"/>
              <a:cs typeface="Arial MT"/>
            </a:endParaRPr>
          </a:p>
          <a:p>
            <a:pPr marL="12700">
              <a:lnSpc>
                <a:spcPts val="3440"/>
              </a:lnSpc>
            </a:pPr>
            <a:r>
              <a:rPr dirty="0" sz="2900" spc="-160">
                <a:latin typeface="Arial MT"/>
                <a:cs typeface="Arial MT"/>
              </a:rPr>
              <a:t>Unnoticed</a:t>
            </a:r>
            <a:r>
              <a:rPr dirty="0" sz="2900" spc="50">
                <a:latin typeface="Arial MT"/>
                <a:cs typeface="Arial MT"/>
              </a:rPr>
              <a:t> </a:t>
            </a:r>
            <a:r>
              <a:rPr dirty="0" sz="2900" spc="-114">
                <a:latin typeface="Arial MT"/>
                <a:cs typeface="Arial MT"/>
              </a:rPr>
              <a:t>low-</a:t>
            </a:r>
            <a:r>
              <a:rPr dirty="0" sz="2900" spc="-90">
                <a:latin typeface="Arial MT"/>
                <a:cs typeface="Arial MT"/>
              </a:rPr>
              <a:t>stock</a:t>
            </a:r>
            <a:r>
              <a:rPr dirty="0" sz="2900" spc="5">
                <a:latin typeface="Arial MT"/>
                <a:cs typeface="Arial MT"/>
              </a:rPr>
              <a:t> </a:t>
            </a:r>
            <a:r>
              <a:rPr dirty="0" sz="2900" spc="-120">
                <a:latin typeface="Arial MT"/>
                <a:cs typeface="Arial MT"/>
              </a:rPr>
              <a:t>situations</a:t>
            </a:r>
            <a:r>
              <a:rPr dirty="0" sz="2900">
                <a:latin typeface="Arial MT"/>
                <a:cs typeface="Arial MT"/>
              </a:rPr>
              <a:t> </a:t>
            </a:r>
            <a:r>
              <a:rPr dirty="0" sz="2900" spc="-260">
                <a:latin typeface="Arial MT"/>
                <a:cs typeface="Arial MT"/>
              </a:rPr>
              <a:t>mean</a:t>
            </a:r>
            <a:r>
              <a:rPr dirty="0" sz="2900" spc="-140">
                <a:latin typeface="Arial MT"/>
                <a:cs typeface="Arial MT"/>
              </a:rPr>
              <a:t> </a:t>
            </a:r>
            <a:r>
              <a:rPr dirty="0" sz="2900" spc="-120">
                <a:latin typeface="Arial MT"/>
                <a:cs typeface="Arial MT"/>
              </a:rPr>
              <a:t>turning</a:t>
            </a:r>
            <a:r>
              <a:rPr dirty="0" sz="2900" spc="-75">
                <a:latin typeface="Arial MT"/>
                <a:cs typeface="Arial MT"/>
              </a:rPr>
              <a:t> </a:t>
            </a:r>
            <a:r>
              <a:rPr dirty="0" sz="2900" spc="-254">
                <a:latin typeface="Arial MT"/>
                <a:cs typeface="Arial MT"/>
              </a:rPr>
              <a:t>away</a:t>
            </a:r>
            <a:r>
              <a:rPr dirty="0" sz="2900" spc="-100">
                <a:latin typeface="Arial MT"/>
                <a:cs typeface="Arial MT"/>
              </a:rPr>
              <a:t> </a:t>
            </a:r>
            <a:r>
              <a:rPr dirty="0" sz="2900" spc="-150">
                <a:latin typeface="Arial MT"/>
                <a:cs typeface="Arial MT"/>
              </a:rPr>
              <a:t>customers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 spc="-225">
                <a:latin typeface="Arial MT"/>
                <a:cs typeface="Arial MT"/>
              </a:rPr>
              <a:t>who</a:t>
            </a:r>
            <a:r>
              <a:rPr dirty="0" sz="2900" spc="-215">
                <a:latin typeface="Arial MT"/>
                <a:cs typeface="Arial MT"/>
              </a:rPr>
              <a:t> </a:t>
            </a:r>
            <a:r>
              <a:rPr dirty="0" sz="2900" spc="-204">
                <a:latin typeface="Arial MT"/>
                <a:cs typeface="Arial MT"/>
              </a:rPr>
              <a:t>are</a:t>
            </a:r>
            <a:r>
              <a:rPr dirty="0" sz="2900" spc="-215">
                <a:latin typeface="Arial MT"/>
                <a:cs typeface="Arial MT"/>
              </a:rPr>
              <a:t> </a:t>
            </a:r>
            <a:r>
              <a:rPr dirty="0" sz="2900" spc="-195">
                <a:latin typeface="Arial MT"/>
                <a:cs typeface="Arial MT"/>
              </a:rPr>
              <a:t>ready</a:t>
            </a:r>
            <a:r>
              <a:rPr dirty="0" sz="2900" spc="-120">
                <a:latin typeface="Arial MT"/>
                <a:cs typeface="Arial MT"/>
              </a:rPr>
              <a:t> </a:t>
            </a:r>
            <a:r>
              <a:rPr dirty="0" sz="2900" spc="-20">
                <a:latin typeface="Arial MT"/>
                <a:cs typeface="Arial MT"/>
              </a:rPr>
              <a:t>to</a:t>
            </a:r>
            <a:r>
              <a:rPr dirty="0" sz="2900" spc="-254">
                <a:latin typeface="Arial MT"/>
                <a:cs typeface="Arial MT"/>
              </a:rPr>
              <a:t> </a:t>
            </a:r>
            <a:r>
              <a:rPr dirty="0" sz="2900" spc="-20">
                <a:latin typeface="Arial MT"/>
                <a:cs typeface="Arial MT"/>
              </a:rPr>
              <a:t>buy.</a:t>
            </a:r>
            <a:endParaRPr sz="2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35"/>
              </a:spcBef>
            </a:pPr>
            <a:endParaRPr sz="2900">
              <a:latin typeface="Arial MT"/>
              <a:cs typeface="Arial MT"/>
            </a:endParaRPr>
          </a:p>
          <a:p>
            <a:pPr marL="24130">
              <a:lnSpc>
                <a:spcPts val="3470"/>
              </a:lnSpc>
            </a:pPr>
            <a:r>
              <a:rPr dirty="0" sz="2950">
                <a:solidFill>
                  <a:srgbClr val="1D1D1D"/>
                </a:solidFill>
                <a:latin typeface="Arial MT"/>
                <a:cs typeface="Arial MT"/>
              </a:rPr>
              <a:t>Wasted</a:t>
            </a:r>
            <a:r>
              <a:rPr dirty="0" sz="2950" spc="-17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1C1C1C"/>
                </a:solidFill>
                <a:latin typeface="Arial MT"/>
                <a:cs typeface="Arial MT"/>
              </a:rPr>
              <a:t>Hours</a:t>
            </a:r>
            <a:endParaRPr sz="2950">
              <a:latin typeface="Arial MT"/>
              <a:cs typeface="Arial MT"/>
            </a:endParaRPr>
          </a:p>
          <a:p>
            <a:pPr marL="27305">
              <a:lnSpc>
                <a:spcPts val="3470"/>
              </a:lnSpc>
            </a:pPr>
            <a:r>
              <a:rPr dirty="0" sz="2950" spc="-254">
                <a:latin typeface="Arial MT"/>
                <a:cs typeface="Arial MT"/>
              </a:rPr>
              <a:t>Valuable</a:t>
            </a:r>
            <a:r>
              <a:rPr dirty="0" sz="2950" spc="-80">
                <a:latin typeface="Arial MT"/>
                <a:cs typeface="Arial MT"/>
              </a:rPr>
              <a:t> </a:t>
            </a:r>
            <a:r>
              <a:rPr dirty="0" sz="2950" spc="-135">
                <a:latin typeface="Arial MT"/>
                <a:cs typeface="Arial MT"/>
              </a:rPr>
              <a:t>time</a:t>
            </a:r>
            <a:r>
              <a:rPr dirty="0" sz="2950" spc="-235">
                <a:latin typeface="Arial MT"/>
                <a:cs typeface="Arial MT"/>
              </a:rPr>
              <a:t> </a:t>
            </a:r>
            <a:r>
              <a:rPr dirty="0" sz="2950" spc="-155">
                <a:latin typeface="Arial MT"/>
                <a:cs typeface="Arial MT"/>
              </a:rPr>
              <a:t>is</a:t>
            </a:r>
            <a:r>
              <a:rPr dirty="0" sz="2950" spc="-140">
                <a:latin typeface="Arial MT"/>
                <a:cs typeface="Arial MT"/>
              </a:rPr>
              <a:t> </a:t>
            </a:r>
            <a:r>
              <a:rPr dirty="0" sz="2950" spc="-185">
                <a:latin typeface="Arial MT"/>
                <a:cs typeface="Arial MT"/>
              </a:rPr>
              <a:t>spent</a:t>
            </a:r>
            <a:r>
              <a:rPr dirty="0" sz="2950" spc="-60">
                <a:latin typeface="Arial MT"/>
                <a:cs typeface="Arial MT"/>
              </a:rPr>
              <a:t> </a:t>
            </a:r>
            <a:r>
              <a:rPr dirty="0" sz="2950" spc="-225">
                <a:latin typeface="Arial MT"/>
                <a:cs typeface="Arial MT"/>
              </a:rPr>
              <a:t>manually</a:t>
            </a:r>
            <a:r>
              <a:rPr dirty="0" sz="2950" spc="160">
                <a:latin typeface="Arial MT"/>
                <a:cs typeface="Arial MT"/>
              </a:rPr>
              <a:t> </a:t>
            </a:r>
            <a:r>
              <a:rPr dirty="0" sz="2950" spc="-215">
                <a:latin typeface="Arial MT"/>
                <a:cs typeface="Arial MT"/>
              </a:rPr>
              <a:t>wading</a:t>
            </a:r>
            <a:r>
              <a:rPr dirty="0" sz="2950" spc="-195">
                <a:latin typeface="Arial MT"/>
                <a:cs typeface="Arial MT"/>
              </a:rPr>
              <a:t> </a:t>
            </a:r>
            <a:r>
              <a:rPr dirty="0" sz="2950" spc="-170">
                <a:latin typeface="Arial MT"/>
                <a:cs typeface="Arial MT"/>
              </a:rPr>
              <a:t>through</a:t>
            </a:r>
            <a:r>
              <a:rPr dirty="0" sz="2950" spc="-55">
                <a:latin typeface="Arial MT"/>
                <a:cs typeface="Arial MT"/>
              </a:rPr>
              <a:t> </a:t>
            </a:r>
            <a:r>
              <a:rPr dirty="0" sz="2950" spc="-195">
                <a:latin typeface="Arial MT"/>
                <a:cs typeface="Arial MT"/>
              </a:rPr>
              <a:t>spreadsheets</a:t>
            </a:r>
            <a:r>
              <a:rPr dirty="0" sz="2950" spc="195">
                <a:latin typeface="Arial MT"/>
                <a:cs typeface="Arial MT"/>
              </a:rPr>
              <a:t> </a:t>
            </a:r>
            <a:r>
              <a:rPr dirty="0" sz="2950" spc="-80">
                <a:latin typeface="Arial MT"/>
                <a:cs typeface="Arial MT"/>
              </a:rPr>
              <a:t>to</a:t>
            </a:r>
            <a:r>
              <a:rPr dirty="0" sz="2950" spc="-190">
                <a:latin typeface="Arial MT"/>
                <a:cs typeface="Arial MT"/>
              </a:rPr>
              <a:t> </a:t>
            </a:r>
            <a:r>
              <a:rPr dirty="0" sz="2950" spc="-245">
                <a:latin typeface="Arial MT"/>
                <a:cs typeface="Arial MT"/>
              </a:rPr>
              <a:t>analyse</a:t>
            </a:r>
            <a:r>
              <a:rPr dirty="0" sz="2950" spc="-30">
                <a:latin typeface="Arial MT"/>
                <a:cs typeface="Arial MT"/>
              </a:rPr>
              <a:t> </a:t>
            </a:r>
            <a:r>
              <a:rPr dirty="0" sz="2950" spc="-215">
                <a:latin typeface="Arial MT"/>
                <a:cs typeface="Arial MT"/>
              </a:rPr>
              <a:t>sales</a:t>
            </a:r>
            <a:r>
              <a:rPr dirty="0" sz="2950" spc="-80">
                <a:latin typeface="Arial MT"/>
                <a:cs typeface="Arial MT"/>
              </a:rPr>
              <a:t> </a:t>
            </a:r>
            <a:r>
              <a:rPr dirty="0" sz="2950" spc="-250">
                <a:latin typeface="Arial MT"/>
                <a:cs typeface="Arial MT"/>
              </a:rPr>
              <a:t>and</a:t>
            </a:r>
            <a:r>
              <a:rPr dirty="0" sz="2950" spc="-185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stock.</a:t>
            </a:r>
            <a:endParaRPr sz="2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14"/>
              </a:spcBef>
            </a:pPr>
            <a:endParaRPr sz="2950">
              <a:latin typeface="Arial MT"/>
              <a:cs typeface="Arial MT"/>
            </a:endParaRPr>
          </a:p>
          <a:p>
            <a:pPr marL="16510">
              <a:lnSpc>
                <a:spcPts val="3954"/>
              </a:lnSpc>
              <a:spcBef>
                <a:spcPts val="5"/>
              </a:spcBef>
            </a:pPr>
            <a:r>
              <a:rPr dirty="0" sz="3550" spc="-165">
                <a:solidFill>
                  <a:srgbClr val="1D1D1D"/>
                </a:solidFill>
                <a:latin typeface="Calibri"/>
                <a:cs typeface="Calibri"/>
              </a:rPr>
              <a:t>Missed</a:t>
            </a:r>
            <a:r>
              <a:rPr dirty="0" sz="3550" spc="-5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3550" spc="-60">
                <a:solidFill>
                  <a:srgbClr val="1A1A1A"/>
                </a:solidFill>
                <a:latin typeface="Calibri"/>
                <a:cs typeface="Calibri"/>
              </a:rPr>
              <a:t>Opportunities</a:t>
            </a:r>
            <a:endParaRPr sz="3550">
              <a:latin typeface="Calibri"/>
              <a:cs typeface="Calibri"/>
            </a:endParaRPr>
          </a:p>
          <a:p>
            <a:pPr marL="26034">
              <a:lnSpc>
                <a:spcPts val="3595"/>
              </a:lnSpc>
            </a:pPr>
            <a:r>
              <a:rPr dirty="0" sz="3250" spc="-240">
                <a:latin typeface="Calibri"/>
                <a:cs typeface="Calibri"/>
              </a:rPr>
              <a:t>Top-</a:t>
            </a:r>
            <a:r>
              <a:rPr dirty="0" sz="3250" spc="-165">
                <a:latin typeface="Calibri"/>
                <a:cs typeface="Calibri"/>
              </a:rPr>
              <a:t>selling</a:t>
            </a:r>
            <a:r>
              <a:rPr dirty="0" sz="3250" spc="160">
                <a:latin typeface="Calibri"/>
                <a:cs typeface="Calibri"/>
              </a:rPr>
              <a:t> </a:t>
            </a:r>
            <a:r>
              <a:rPr dirty="0" sz="3250" spc="-229">
                <a:latin typeface="Calibri"/>
                <a:cs typeface="Calibri"/>
              </a:rPr>
              <a:t>items</a:t>
            </a:r>
            <a:r>
              <a:rPr dirty="0" sz="3250" spc="-100">
                <a:latin typeface="Calibri"/>
                <a:cs typeface="Calibri"/>
              </a:rPr>
              <a:t> </a:t>
            </a:r>
            <a:r>
              <a:rPr dirty="0" sz="3250" spc="-225">
                <a:latin typeface="Calibri"/>
                <a:cs typeface="Calibri"/>
              </a:rPr>
              <a:t>are</a:t>
            </a:r>
            <a:r>
              <a:rPr dirty="0" sz="3250" spc="-190">
                <a:latin typeface="Calibri"/>
                <a:cs typeface="Calibri"/>
              </a:rPr>
              <a:t> </a:t>
            </a:r>
            <a:r>
              <a:rPr dirty="0" sz="3250" spc="-250">
                <a:latin typeface="Calibri"/>
                <a:cs typeface="Calibri"/>
              </a:rPr>
              <a:t>not</a:t>
            </a:r>
            <a:r>
              <a:rPr dirty="0" sz="3250" spc="-85">
                <a:latin typeface="Calibri"/>
                <a:cs typeface="Calibri"/>
              </a:rPr>
              <a:t> </a:t>
            </a:r>
            <a:r>
              <a:rPr dirty="0" sz="3250" spc="-229">
                <a:latin typeface="Calibri"/>
                <a:cs typeface="Calibri"/>
              </a:rPr>
              <a:t>identified</a:t>
            </a:r>
            <a:r>
              <a:rPr dirty="0" sz="3250" spc="-15">
                <a:latin typeface="Calibri"/>
                <a:cs typeface="Calibri"/>
              </a:rPr>
              <a:t> </a:t>
            </a:r>
            <a:r>
              <a:rPr dirty="0" sz="3250" spc="-195">
                <a:latin typeface="Calibri"/>
                <a:cs typeface="Calibri"/>
              </a:rPr>
              <a:t>quickly</a:t>
            </a:r>
            <a:r>
              <a:rPr dirty="0" sz="3250" spc="30">
                <a:latin typeface="Calibri"/>
                <a:cs typeface="Calibri"/>
              </a:rPr>
              <a:t> </a:t>
            </a:r>
            <a:r>
              <a:rPr dirty="0" sz="3250" spc="-245">
                <a:latin typeface="Calibri"/>
                <a:cs typeface="Calibri"/>
              </a:rPr>
              <a:t>enough</a:t>
            </a:r>
            <a:r>
              <a:rPr dirty="0" sz="3250" spc="-40">
                <a:latin typeface="Calibri"/>
                <a:cs typeface="Calibri"/>
              </a:rPr>
              <a:t> </a:t>
            </a:r>
            <a:r>
              <a:rPr dirty="0" sz="3250" spc="-254">
                <a:latin typeface="Calibri"/>
                <a:cs typeface="Calibri"/>
              </a:rPr>
              <a:t>to</a:t>
            </a:r>
            <a:r>
              <a:rPr dirty="0" sz="3250" spc="-220">
                <a:latin typeface="Calibri"/>
                <a:cs typeface="Calibri"/>
              </a:rPr>
              <a:t> </a:t>
            </a:r>
            <a:r>
              <a:rPr dirty="0" sz="3250" spc="-240">
                <a:latin typeface="Calibri"/>
                <a:cs typeface="Calibri"/>
              </a:rPr>
              <a:t>maximise</a:t>
            </a:r>
            <a:r>
              <a:rPr dirty="0" sz="3250" spc="90">
                <a:latin typeface="Calibri"/>
                <a:cs typeface="Calibri"/>
              </a:rPr>
              <a:t> </a:t>
            </a:r>
            <a:r>
              <a:rPr dirty="0" sz="3250" spc="-240">
                <a:latin typeface="Calibri"/>
                <a:cs typeface="Calibri"/>
              </a:rPr>
              <a:t>their</a:t>
            </a:r>
            <a:r>
              <a:rPr dirty="0" sz="3250" spc="-190">
                <a:latin typeface="Calibri"/>
                <a:cs typeface="Calibri"/>
              </a:rPr>
              <a:t> </a:t>
            </a:r>
            <a:r>
              <a:rPr dirty="0" sz="3250" spc="-125">
                <a:latin typeface="Calibri"/>
                <a:cs typeface="Calibri"/>
              </a:rPr>
              <a:t>potential.</a:t>
            </a:r>
            <a:endParaRPr sz="3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3250">
              <a:latin typeface="Calibri"/>
              <a:cs typeface="Calibri"/>
            </a:endParaRPr>
          </a:p>
          <a:p>
            <a:pPr marL="22225">
              <a:lnSpc>
                <a:spcPts val="3745"/>
              </a:lnSpc>
            </a:pPr>
            <a:r>
              <a:rPr dirty="0" sz="3200" spc="-120">
                <a:solidFill>
                  <a:srgbClr val="151515"/>
                </a:solidFill>
                <a:latin typeface="Arial MT"/>
                <a:cs typeface="Arial MT"/>
              </a:rPr>
              <a:t>Reactive</a:t>
            </a:r>
            <a:r>
              <a:rPr dirty="0" sz="3200" spc="-229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111111"/>
                </a:solidFill>
                <a:latin typeface="Arial MT"/>
                <a:cs typeface="Arial MT"/>
              </a:rPr>
              <a:t>Firefighting</a:t>
            </a:r>
            <a:endParaRPr sz="3200">
              <a:latin typeface="Arial MT"/>
              <a:cs typeface="Arial MT"/>
            </a:endParaRPr>
          </a:p>
          <a:p>
            <a:pPr marL="22225" marR="5080" indent="1905">
              <a:lnSpc>
                <a:spcPts val="3100"/>
              </a:lnSpc>
              <a:spcBef>
                <a:spcPts val="375"/>
              </a:spcBef>
            </a:pPr>
            <a:r>
              <a:rPr dirty="0" sz="2950" spc="-175">
                <a:latin typeface="Arial MT"/>
                <a:cs typeface="Arial MT"/>
              </a:rPr>
              <a:t>Without</a:t>
            </a:r>
            <a:r>
              <a:rPr dirty="0" sz="2950" spc="20">
                <a:latin typeface="Arial MT"/>
                <a:cs typeface="Arial MT"/>
              </a:rPr>
              <a:t> </a:t>
            </a:r>
            <a:r>
              <a:rPr dirty="0" sz="2950" spc="-165">
                <a:latin typeface="Arial MT"/>
                <a:cs typeface="Arial MT"/>
              </a:rPr>
              <a:t>forecasting,</a:t>
            </a:r>
            <a:r>
              <a:rPr dirty="0" sz="2950" spc="-10">
                <a:latin typeface="Arial MT"/>
                <a:cs typeface="Arial MT"/>
              </a:rPr>
              <a:t> </a:t>
            </a:r>
            <a:r>
              <a:rPr dirty="0" sz="2950" spc="-185">
                <a:latin typeface="Arial MT"/>
                <a:cs typeface="Arial MT"/>
              </a:rPr>
              <a:t>you're</a:t>
            </a:r>
            <a:r>
              <a:rPr dirty="0" sz="2950" spc="-180">
                <a:latin typeface="Arial MT"/>
                <a:cs typeface="Arial MT"/>
              </a:rPr>
              <a:t> </a:t>
            </a:r>
            <a:r>
              <a:rPr dirty="0" sz="2950" spc="-155">
                <a:latin typeface="Arial MT"/>
                <a:cs typeface="Arial MT"/>
              </a:rPr>
              <a:t>constantly</a:t>
            </a:r>
            <a:r>
              <a:rPr dirty="0" sz="2950" spc="-90">
                <a:latin typeface="Arial MT"/>
                <a:cs typeface="Arial MT"/>
              </a:rPr>
              <a:t> </a:t>
            </a:r>
            <a:r>
              <a:rPr dirty="0" sz="2950" spc="-165">
                <a:latin typeface="Arial MT"/>
                <a:cs typeface="Arial MT"/>
              </a:rPr>
              <a:t>reacting</a:t>
            </a:r>
            <a:r>
              <a:rPr dirty="0" sz="2950" spc="20">
                <a:latin typeface="Arial MT"/>
                <a:cs typeface="Arial MT"/>
              </a:rPr>
              <a:t> </a:t>
            </a:r>
            <a:r>
              <a:rPr dirty="0" sz="2950" spc="-85">
                <a:latin typeface="Arial MT"/>
                <a:cs typeface="Arial MT"/>
              </a:rPr>
              <a:t>to</a:t>
            </a:r>
            <a:r>
              <a:rPr dirty="0" sz="2950" spc="-250">
                <a:latin typeface="Arial MT"/>
                <a:cs typeface="Arial MT"/>
              </a:rPr>
              <a:t> </a:t>
            </a:r>
            <a:r>
              <a:rPr dirty="0" sz="2950" spc="-110">
                <a:latin typeface="Arial MT"/>
                <a:cs typeface="Arial MT"/>
              </a:rPr>
              <a:t>shifts</a:t>
            </a:r>
            <a:r>
              <a:rPr dirty="0" sz="2950" spc="-170">
                <a:latin typeface="Arial MT"/>
                <a:cs typeface="Arial MT"/>
              </a:rPr>
              <a:t> </a:t>
            </a:r>
            <a:r>
              <a:rPr dirty="0" sz="2950" spc="-145">
                <a:latin typeface="Arial MT"/>
                <a:cs typeface="Arial MT"/>
              </a:rPr>
              <a:t>in</a:t>
            </a:r>
            <a:r>
              <a:rPr dirty="0" sz="2950" spc="-215">
                <a:latin typeface="Arial MT"/>
                <a:cs typeface="Arial MT"/>
              </a:rPr>
              <a:t> </a:t>
            </a:r>
            <a:r>
              <a:rPr dirty="0" sz="2950" spc="-254">
                <a:latin typeface="Arial MT"/>
                <a:cs typeface="Arial MT"/>
              </a:rPr>
              <a:t>demand</a:t>
            </a:r>
            <a:r>
              <a:rPr dirty="0" sz="2950" spc="-155">
                <a:latin typeface="Arial MT"/>
                <a:cs typeface="Arial MT"/>
              </a:rPr>
              <a:t> </a:t>
            </a:r>
            <a:r>
              <a:rPr dirty="0" sz="2950" spc="-175">
                <a:latin typeface="Arial MT"/>
                <a:cs typeface="Arial MT"/>
              </a:rPr>
              <a:t>instead</a:t>
            </a:r>
            <a:r>
              <a:rPr dirty="0" sz="2950" spc="-65">
                <a:latin typeface="Arial MT"/>
                <a:cs typeface="Arial MT"/>
              </a:rPr>
              <a:t> </a:t>
            </a:r>
            <a:r>
              <a:rPr dirty="0" sz="2950" spc="-180">
                <a:latin typeface="Arial MT"/>
                <a:cs typeface="Arial MT"/>
              </a:rPr>
              <a:t>of</a:t>
            </a:r>
            <a:r>
              <a:rPr dirty="0" sz="2950" spc="-130">
                <a:latin typeface="Arial MT"/>
                <a:cs typeface="Arial MT"/>
              </a:rPr>
              <a:t> </a:t>
            </a:r>
            <a:r>
              <a:rPr dirty="0" sz="2950" spc="-185">
                <a:latin typeface="Arial MT"/>
                <a:cs typeface="Arial MT"/>
              </a:rPr>
              <a:t>preparing</a:t>
            </a:r>
            <a:r>
              <a:rPr dirty="0" sz="2950" spc="45">
                <a:latin typeface="Arial MT"/>
                <a:cs typeface="Arial MT"/>
              </a:rPr>
              <a:t> </a:t>
            </a:r>
            <a:r>
              <a:rPr dirty="0" sz="2950" spc="-55">
                <a:latin typeface="Arial MT"/>
                <a:cs typeface="Arial MT"/>
              </a:rPr>
              <a:t>for </a:t>
            </a:r>
            <a:r>
              <a:rPr dirty="0" sz="2950" spc="-10">
                <a:latin typeface="Arial MT"/>
                <a:cs typeface="Arial MT"/>
              </a:rPr>
              <a:t>them.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6200" y="2260600"/>
            <a:ext cx="7518400" cy="5245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1080" y="1958622"/>
            <a:ext cx="5415280" cy="18256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6950"/>
              </a:lnSpc>
              <a:spcBef>
                <a:spcPts val="125"/>
              </a:spcBef>
            </a:pPr>
            <a:r>
              <a:rPr dirty="0" sz="6500" spc="130">
                <a:solidFill>
                  <a:srgbClr val="242424"/>
                </a:solidFill>
              </a:rPr>
              <a:t>Introducing</a:t>
            </a:r>
            <a:endParaRPr sz="6500"/>
          </a:p>
          <a:p>
            <a:pPr marL="22225">
              <a:lnSpc>
                <a:spcPts val="7190"/>
              </a:lnSpc>
            </a:pPr>
            <a:r>
              <a:rPr dirty="0" sz="6700" spc="-120">
                <a:solidFill>
                  <a:srgbClr val="262626"/>
                </a:solidFill>
              </a:rPr>
              <a:t>RetailSense</a:t>
            </a:r>
            <a:r>
              <a:rPr dirty="0" sz="6700" spc="-260">
                <a:solidFill>
                  <a:srgbClr val="262626"/>
                </a:solidFill>
              </a:rPr>
              <a:t> </a:t>
            </a:r>
            <a:r>
              <a:rPr dirty="0" sz="6700" spc="-350">
                <a:solidFill>
                  <a:srgbClr val="262626"/>
                </a:solidFill>
              </a:rPr>
              <a:t>AI</a:t>
            </a:r>
            <a:endParaRPr sz="6700"/>
          </a:p>
        </p:txBody>
      </p:sp>
      <p:sp>
        <p:nvSpPr>
          <p:cNvPr id="4" name="object 4" descr=""/>
          <p:cNvSpPr txBox="1"/>
          <p:nvPr/>
        </p:nvSpPr>
        <p:spPr>
          <a:xfrm>
            <a:off x="1107884" y="3878086"/>
            <a:ext cx="7301865" cy="3413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3850"/>
              </a:lnSpc>
              <a:spcBef>
                <a:spcPts val="110"/>
              </a:spcBef>
            </a:pPr>
            <a:r>
              <a:rPr dirty="0" sz="3250" spc="-160">
                <a:solidFill>
                  <a:srgbClr val="161616"/>
                </a:solidFill>
                <a:latin typeface="Arial MT"/>
                <a:cs typeface="Arial MT"/>
              </a:rPr>
              <a:t>The</a:t>
            </a:r>
            <a:r>
              <a:rPr dirty="0" sz="3250" spc="-22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3250">
                <a:solidFill>
                  <a:srgbClr val="111111"/>
                </a:solidFill>
                <a:latin typeface="Arial MT"/>
                <a:cs typeface="Arial MT"/>
              </a:rPr>
              <a:t>intelligent</a:t>
            </a:r>
            <a:r>
              <a:rPr dirty="0" sz="325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250" spc="-55">
                <a:solidFill>
                  <a:srgbClr val="181818"/>
                </a:solidFill>
                <a:latin typeface="Arial MT"/>
                <a:cs typeface="Arial MT"/>
              </a:rPr>
              <a:t>agent</a:t>
            </a:r>
            <a:r>
              <a:rPr dirty="0" sz="3250" spc="-8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3250" spc="50">
                <a:solidFill>
                  <a:srgbClr val="161616"/>
                </a:solidFill>
                <a:latin typeface="Arial MT"/>
                <a:cs typeface="Arial MT"/>
              </a:rPr>
              <a:t>that</a:t>
            </a:r>
            <a:r>
              <a:rPr dirty="0" sz="3250" spc="-12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3250" spc="-45">
                <a:solidFill>
                  <a:srgbClr val="131313"/>
                </a:solidFill>
                <a:latin typeface="Arial MT"/>
                <a:cs typeface="Arial MT"/>
              </a:rPr>
              <a:t>automates</a:t>
            </a:r>
            <a:r>
              <a:rPr dirty="0" sz="3250" spc="-13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3250" spc="-40">
                <a:solidFill>
                  <a:srgbClr val="1A1A1A"/>
                </a:solidFill>
                <a:latin typeface="Arial MT"/>
                <a:cs typeface="Arial MT"/>
              </a:rPr>
              <a:t>your</a:t>
            </a:r>
            <a:endParaRPr sz="3250">
              <a:latin typeface="Arial MT"/>
              <a:cs typeface="Arial MT"/>
            </a:endParaRPr>
          </a:p>
          <a:p>
            <a:pPr marL="20320">
              <a:lnSpc>
                <a:spcPts val="3670"/>
              </a:lnSpc>
            </a:pPr>
            <a:r>
              <a:rPr dirty="0" sz="3100" spc="-35">
                <a:solidFill>
                  <a:srgbClr val="111111"/>
                </a:solidFill>
                <a:latin typeface="Arial MT"/>
                <a:cs typeface="Arial MT"/>
              </a:rPr>
              <a:t>analysis</a:t>
            </a:r>
            <a:r>
              <a:rPr dirty="0" sz="3100" spc="-9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100" spc="-25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3100" spc="-19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simplifies</a:t>
            </a:r>
            <a:r>
              <a:rPr dirty="0" sz="3100" spc="-100"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161616"/>
                </a:solidFill>
                <a:latin typeface="Arial MT"/>
                <a:cs typeface="Arial MT"/>
              </a:rPr>
              <a:t>your</a:t>
            </a:r>
            <a:r>
              <a:rPr dirty="0" sz="3100" spc="-5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decisions.</a:t>
            </a:r>
            <a:endParaRPr sz="3100">
              <a:latin typeface="Arial MT"/>
              <a:cs typeface="Arial MT"/>
            </a:endParaRPr>
          </a:p>
          <a:p>
            <a:pPr marL="21590" marR="671830" indent="-5715">
              <a:lnSpc>
                <a:spcPct val="93700"/>
              </a:lnSpc>
              <a:spcBef>
                <a:spcPts val="2215"/>
              </a:spcBef>
            </a:pPr>
            <a:r>
              <a:rPr dirty="0" sz="3100" spc="-295">
                <a:latin typeface="Arial MT"/>
                <a:cs typeface="Arial MT"/>
              </a:rPr>
              <a:t>RetailSense</a:t>
            </a:r>
            <a:r>
              <a:rPr dirty="0" sz="3100" spc="160">
                <a:latin typeface="Arial MT"/>
                <a:cs typeface="Arial MT"/>
              </a:rPr>
              <a:t> </a:t>
            </a:r>
            <a:r>
              <a:rPr dirty="0" sz="3100" spc="-280">
                <a:latin typeface="Arial MT"/>
                <a:cs typeface="Arial MT"/>
              </a:rPr>
              <a:t>Al</a:t>
            </a:r>
            <a:r>
              <a:rPr dirty="0" sz="3100" spc="-75">
                <a:latin typeface="Arial MT"/>
                <a:cs typeface="Arial MT"/>
              </a:rPr>
              <a:t> </a:t>
            </a:r>
            <a:r>
              <a:rPr dirty="0" sz="3100" spc="-295">
                <a:latin typeface="Arial MT"/>
                <a:cs typeface="Arial MT"/>
              </a:rPr>
              <a:t>uses</a:t>
            </a:r>
            <a:r>
              <a:rPr dirty="0" sz="3100" spc="50">
                <a:latin typeface="Arial MT"/>
                <a:cs typeface="Arial MT"/>
              </a:rPr>
              <a:t> </a:t>
            </a:r>
            <a:r>
              <a:rPr dirty="0" sz="3100" spc="-245">
                <a:latin typeface="Arial MT"/>
                <a:cs typeface="Arial MT"/>
              </a:rPr>
              <a:t>Agentic</a:t>
            </a:r>
            <a:r>
              <a:rPr dirty="0" sz="3100" spc="-20">
                <a:latin typeface="Arial MT"/>
                <a:cs typeface="Arial MT"/>
              </a:rPr>
              <a:t> </a:t>
            </a:r>
            <a:r>
              <a:rPr dirty="0" sz="3100" spc="-220">
                <a:latin typeface="Arial MT"/>
                <a:cs typeface="Arial MT"/>
              </a:rPr>
              <a:t>automation</a:t>
            </a:r>
            <a:r>
              <a:rPr dirty="0" sz="3100" spc="65">
                <a:latin typeface="Arial MT"/>
                <a:cs typeface="Arial MT"/>
              </a:rPr>
              <a:t> </a:t>
            </a:r>
            <a:r>
              <a:rPr dirty="0" sz="3100" spc="-345">
                <a:latin typeface="Arial MT"/>
                <a:cs typeface="Arial MT"/>
              </a:rPr>
              <a:t>and </a:t>
            </a:r>
            <a:r>
              <a:rPr dirty="0" sz="2900" spc="-105">
                <a:latin typeface="Arial MT"/>
                <a:cs typeface="Arial MT"/>
              </a:rPr>
              <a:t>analytics</a:t>
            </a:r>
            <a:r>
              <a:rPr dirty="0" sz="2900" spc="-95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to</a:t>
            </a:r>
            <a:r>
              <a:rPr dirty="0" sz="2900" spc="-190">
                <a:latin typeface="Arial MT"/>
                <a:cs typeface="Arial MT"/>
              </a:rPr>
              <a:t> </a:t>
            </a:r>
            <a:r>
              <a:rPr dirty="0" sz="2900" spc="-95">
                <a:latin typeface="Arial MT"/>
                <a:cs typeface="Arial MT"/>
              </a:rPr>
              <a:t>assist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125">
                <a:latin typeface="Arial MT"/>
                <a:cs typeface="Arial MT"/>
              </a:rPr>
              <a:t>retailers,</a:t>
            </a:r>
            <a:r>
              <a:rPr dirty="0" sz="2900" spc="-114">
                <a:latin typeface="Arial MT"/>
                <a:cs typeface="Arial MT"/>
              </a:rPr>
              <a:t> </a:t>
            </a:r>
            <a:r>
              <a:rPr dirty="0" sz="2900" spc="-90">
                <a:latin typeface="Arial MT"/>
                <a:cs typeface="Arial MT"/>
              </a:rPr>
              <a:t>turning</a:t>
            </a:r>
            <a:r>
              <a:rPr dirty="0" sz="2900" spc="20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complex </a:t>
            </a:r>
            <a:r>
              <a:rPr dirty="0" sz="2900" spc="-130">
                <a:latin typeface="Arial MT"/>
                <a:cs typeface="Arial MT"/>
              </a:rPr>
              <a:t>data</a:t>
            </a:r>
            <a:r>
              <a:rPr dirty="0" sz="2900" spc="-70">
                <a:latin typeface="Arial MT"/>
                <a:cs typeface="Arial MT"/>
              </a:rPr>
              <a:t> </a:t>
            </a:r>
            <a:r>
              <a:rPr dirty="0" sz="2900" spc="-80">
                <a:latin typeface="Arial MT"/>
                <a:cs typeface="Arial MT"/>
              </a:rPr>
              <a:t>into</a:t>
            </a:r>
            <a:r>
              <a:rPr dirty="0" sz="2900" spc="-150">
                <a:latin typeface="Arial MT"/>
                <a:cs typeface="Arial MT"/>
              </a:rPr>
              <a:t> </a:t>
            </a:r>
            <a:r>
              <a:rPr dirty="0" sz="2900" spc="-105">
                <a:latin typeface="Arial MT"/>
                <a:cs typeface="Arial MT"/>
              </a:rPr>
              <a:t>clear</a:t>
            </a:r>
            <a:r>
              <a:rPr dirty="0" sz="2900" spc="-90">
                <a:latin typeface="Arial MT"/>
                <a:cs typeface="Arial MT"/>
              </a:rPr>
              <a:t> </a:t>
            </a:r>
            <a:r>
              <a:rPr dirty="0" sz="2900" spc="-110">
                <a:latin typeface="Arial MT"/>
                <a:cs typeface="Arial MT"/>
              </a:rPr>
              <a:t>actions.</a:t>
            </a:r>
            <a:r>
              <a:rPr dirty="0" sz="2900" spc="-10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It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 spc="-120">
                <a:latin typeface="Arial MT"/>
                <a:cs typeface="Arial MT"/>
              </a:rPr>
              <a:t>automates</a:t>
            </a:r>
            <a:r>
              <a:rPr dirty="0" sz="2900" spc="30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and </a:t>
            </a:r>
            <a:r>
              <a:rPr dirty="0" sz="3100" spc="-175">
                <a:latin typeface="Arial MT"/>
                <a:cs typeface="Arial MT"/>
              </a:rPr>
              <a:t>simplifies</a:t>
            </a:r>
            <a:r>
              <a:rPr dirty="0" sz="3100" spc="-85">
                <a:latin typeface="Arial MT"/>
                <a:cs typeface="Arial MT"/>
              </a:rPr>
              <a:t> </a:t>
            </a:r>
            <a:r>
              <a:rPr dirty="0" sz="3100" spc="-195">
                <a:latin typeface="Arial MT"/>
                <a:cs typeface="Arial MT"/>
              </a:rPr>
              <a:t>the</a:t>
            </a:r>
            <a:r>
              <a:rPr dirty="0" sz="3100" spc="-190">
                <a:latin typeface="Arial MT"/>
                <a:cs typeface="Arial MT"/>
              </a:rPr>
              <a:t> </a:t>
            </a:r>
            <a:r>
              <a:rPr dirty="0" sz="3100" spc="-220">
                <a:latin typeface="Arial MT"/>
                <a:cs typeface="Arial MT"/>
              </a:rPr>
              <a:t>essential</a:t>
            </a:r>
            <a:r>
              <a:rPr dirty="0" sz="3100" spc="60">
                <a:latin typeface="Arial MT"/>
                <a:cs typeface="Arial MT"/>
              </a:rPr>
              <a:t> </a:t>
            </a:r>
            <a:r>
              <a:rPr dirty="0" sz="3100" spc="-225">
                <a:latin typeface="Arial MT"/>
                <a:cs typeface="Arial MT"/>
              </a:rPr>
              <a:t>tasks</a:t>
            </a:r>
            <a:r>
              <a:rPr dirty="0" sz="3100" spc="-50">
                <a:latin typeface="Arial MT"/>
                <a:cs typeface="Arial MT"/>
              </a:rPr>
              <a:t> </a:t>
            </a:r>
            <a:r>
              <a:rPr dirty="0" sz="3100" spc="-175">
                <a:latin typeface="Arial MT"/>
                <a:cs typeface="Arial MT"/>
              </a:rPr>
              <a:t>that</a:t>
            </a:r>
            <a:r>
              <a:rPr dirty="0" sz="3100" spc="25">
                <a:latin typeface="Arial MT"/>
                <a:cs typeface="Arial MT"/>
              </a:rPr>
              <a:t> </a:t>
            </a:r>
            <a:r>
              <a:rPr dirty="0" sz="3100" spc="-210">
                <a:latin typeface="Arial MT"/>
                <a:cs typeface="Arial MT"/>
              </a:rPr>
              <a:t>hold</a:t>
            </a:r>
            <a:r>
              <a:rPr dirty="0" sz="3100" spc="-175">
                <a:latin typeface="Arial MT"/>
                <a:cs typeface="Arial MT"/>
              </a:rPr>
              <a:t> </a:t>
            </a:r>
            <a:r>
              <a:rPr dirty="0" sz="3100" spc="-295">
                <a:latin typeface="Arial MT"/>
                <a:cs typeface="Arial MT"/>
              </a:rPr>
              <a:t>your </a:t>
            </a:r>
            <a:r>
              <a:rPr dirty="0" sz="3050" spc="-220">
                <a:latin typeface="Arial MT"/>
                <a:cs typeface="Arial MT"/>
              </a:rPr>
              <a:t>business</a:t>
            </a:r>
            <a:r>
              <a:rPr dirty="0" sz="3050" spc="45">
                <a:latin typeface="Arial MT"/>
                <a:cs typeface="Arial MT"/>
              </a:rPr>
              <a:t> </a:t>
            </a:r>
            <a:r>
              <a:rPr dirty="0" sz="3050" spc="-55">
                <a:latin typeface="Arial MT"/>
                <a:cs typeface="Arial MT"/>
              </a:rPr>
              <a:t>back.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114255" y="9439980"/>
            <a:ext cx="122555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2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6200" y="5295900"/>
            <a:ext cx="1422400" cy="13208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0700" y="4889500"/>
            <a:ext cx="2273300" cy="12319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0700" y="3517900"/>
            <a:ext cx="2273300" cy="11938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8000" y="3136900"/>
            <a:ext cx="3771900" cy="3327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33100" y="5638800"/>
            <a:ext cx="2019300" cy="11684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33100" y="4838700"/>
            <a:ext cx="2019300" cy="4445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33100" y="3289300"/>
            <a:ext cx="2019300" cy="11938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106400" y="6096000"/>
            <a:ext cx="1041400" cy="10033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093700" y="4533900"/>
            <a:ext cx="1054100" cy="10541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169900" y="2971800"/>
            <a:ext cx="927100" cy="10668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870200" y="3073400"/>
            <a:ext cx="330200" cy="6985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378200" y="3073400"/>
            <a:ext cx="406400" cy="6985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263900" y="3073400"/>
            <a:ext cx="50800" cy="812800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2628900" y="3073400"/>
            <a:ext cx="571500" cy="990600"/>
            <a:chOff x="2628900" y="3073400"/>
            <a:chExt cx="571500" cy="990600"/>
          </a:xfrm>
        </p:grpSpPr>
        <p:pic>
          <p:nvPicPr>
            <p:cNvPr id="16" name="object 1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28900" y="3086100"/>
              <a:ext cx="317500" cy="9779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70200" y="3073400"/>
              <a:ext cx="330200" cy="698500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3378200" y="3073400"/>
            <a:ext cx="647700" cy="977900"/>
            <a:chOff x="3378200" y="3073400"/>
            <a:chExt cx="647700" cy="977900"/>
          </a:xfrm>
        </p:grpSpPr>
        <p:pic>
          <p:nvPicPr>
            <p:cNvPr id="19" name="object 1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70300" y="3073400"/>
              <a:ext cx="355600" cy="97790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78200" y="3073400"/>
              <a:ext cx="406400" cy="698500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642475" y="618066"/>
            <a:ext cx="14114144" cy="9144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800">
                <a:solidFill>
                  <a:srgbClr val="282828"/>
                </a:solidFill>
              </a:rPr>
              <a:t>How</a:t>
            </a:r>
            <a:r>
              <a:rPr dirty="0" sz="5800" spc="-310">
                <a:solidFill>
                  <a:srgbClr val="282828"/>
                </a:solidFill>
              </a:rPr>
              <a:t> </a:t>
            </a:r>
            <a:r>
              <a:rPr dirty="0" sz="5800">
                <a:solidFill>
                  <a:srgbClr val="282828"/>
                </a:solidFill>
              </a:rPr>
              <a:t>It</a:t>
            </a:r>
            <a:r>
              <a:rPr dirty="0" sz="5800" spc="610">
                <a:solidFill>
                  <a:srgbClr val="282828"/>
                </a:solidFill>
              </a:rPr>
              <a:t> </a:t>
            </a:r>
            <a:r>
              <a:rPr dirty="0" sz="5800">
                <a:solidFill>
                  <a:srgbClr val="282828"/>
                </a:solidFill>
              </a:rPr>
              <a:t>Works: </a:t>
            </a:r>
            <a:r>
              <a:rPr dirty="0" sz="5800" spc="-140">
                <a:solidFill>
                  <a:srgbClr val="282828"/>
                </a:solidFill>
              </a:rPr>
              <a:t>Your</a:t>
            </a:r>
            <a:r>
              <a:rPr dirty="0" sz="5800" spc="-125">
                <a:solidFill>
                  <a:srgbClr val="282828"/>
                </a:solidFill>
              </a:rPr>
              <a:t> </a:t>
            </a:r>
            <a:r>
              <a:rPr dirty="0" sz="5800">
                <a:solidFill>
                  <a:srgbClr val="262626"/>
                </a:solidFill>
              </a:rPr>
              <a:t>On-Premise</a:t>
            </a:r>
            <a:r>
              <a:rPr dirty="0" sz="5800" spc="335">
                <a:solidFill>
                  <a:srgbClr val="262626"/>
                </a:solidFill>
              </a:rPr>
              <a:t> </a:t>
            </a:r>
            <a:r>
              <a:rPr dirty="0" sz="5800">
                <a:solidFill>
                  <a:srgbClr val="2D2D2D"/>
                </a:solidFill>
              </a:rPr>
              <a:t>Al</a:t>
            </a:r>
            <a:r>
              <a:rPr dirty="0" sz="5800" spc="-300">
                <a:solidFill>
                  <a:srgbClr val="2D2D2D"/>
                </a:solidFill>
              </a:rPr>
              <a:t> </a:t>
            </a:r>
            <a:r>
              <a:rPr dirty="0" sz="5800" spc="90">
                <a:solidFill>
                  <a:srgbClr val="242424"/>
                </a:solidFill>
              </a:rPr>
              <a:t>Analyst</a:t>
            </a:r>
            <a:endParaRPr sz="5800"/>
          </a:p>
        </p:txBody>
      </p:sp>
      <p:sp>
        <p:nvSpPr>
          <p:cNvPr id="30" name="object 3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85"/>
              </a:lnSpc>
            </a:pPr>
            <a:r>
              <a:rPr dirty="0">
                <a:latin typeface="Arial MT"/>
                <a:cs typeface="Arial MT"/>
              </a:rPr>
              <a:t>G</a:t>
            </a:r>
            <a:r>
              <a:rPr dirty="0" spc="270">
                <a:latin typeface="Arial MT"/>
                <a:cs typeface="Arial MT"/>
              </a:rPr>
              <a:t> </a:t>
            </a:r>
            <a:r>
              <a:rPr dirty="0" spc="-90">
                <a:latin typeface="Arial MT"/>
                <a:cs typeface="Arial MT"/>
              </a:rPr>
              <a:t>NotebookLM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2971011" y="3759200"/>
            <a:ext cx="66802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5450" algn="l"/>
              </a:tabLst>
            </a:pPr>
            <a:r>
              <a:rPr dirty="0" sz="1250">
                <a:solidFill>
                  <a:srgbClr val="0F0F0F"/>
                </a:solidFill>
                <a:latin typeface="Calibri"/>
                <a:cs typeface="Calibri"/>
              </a:rPr>
              <a:t>1</a:t>
            </a:r>
            <a:r>
              <a:rPr dirty="0" sz="1250" spc="1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250" spc="-50">
                <a:solidFill>
                  <a:srgbClr val="111111"/>
                </a:solidFill>
                <a:latin typeface="Calibri"/>
                <a:cs typeface="Calibri"/>
              </a:rPr>
              <a:t>2</a:t>
            </a:r>
            <a:r>
              <a:rPr dirty="0" sz="1250">
                <a:solidFill>
                  <a:srgbClr val="111111"/>
                </a:solidFill>
                <a:latin typeface="Calibri"/>
                <a:cs typeface="Calibri"/>
              </a:rPr>
              <a:t>	</a:t>
            </a:r>
            <a:r>
              <a:rPr dirty="0" sz="1250">
                <a:latin typeface="Arial MT"/>
                <a:cs typeface="Arial MT"/>
              </a:rPr>
              <a:t>3</a:t>
            </a:r>
            <a:r>
              <a:rPr dirty="0" sz="1250" spc="40">
                <a:latin typeface="Arial MT"/>
                <a:cs typeface="Arial MT"/>
              </a:rPr>
              <a:t> </a:t>
            </a:r>
            <a:r>
              <a:rPr dirty="0" sz="1250" spc="-50">
                <a:solidFill>
                  <a:srgbClr val="111111"/>
                </a:solidFill>
                <a:latin typeface="Arial MT"/>
                <a:cs typeface="Arial MT"/>
              </a:rPr>
              <a:t>7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563837" y="4133850"/>
            <a:ext cx="15100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40">
                <a:latin typeface="Arial MT"/>
                <a:cs typeface="Arial MT"/>
              </a:rPr>
              <a:t>Sales</a:t>
            </a:r>
            <a:r>
              <a:rPr dirty="0" sz="2500" spc="-130">
                <a:latin typeface="Arial MT"/>
                <a:cs typeface="Arial MT"/>
              </a:rPr>
              <a:t> </a:t>
            </a:r>
            <a:r>
              <a:rPr dirty="0" sz="2500" spc="-45">
                <a:latin typeface="Arial MT"/>
                <a:cs typeface="Arial MT"/>
              </a:rPr>
              <a:t>Data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424137" y="6692900"/>
            <a:ext cx="176847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Arial MT"/>
                <a:cs typeface="Arial MT"/>
              </a:rPr>
              <a:t>Stock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 spc="-70">
                <a:latin typeface="Arial MT"/>
                <a:cs typeface="Arial MT"/>
              </a:rPr>
              <a:t>Levels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655074" y="4381852"/>
            <a:ext cx="2350770" cy="889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3160"/>
              </a:lnSpc>
              <a:spcBef>
                <a:spcPts val="95"/>
              </a:spcBef>
            </a:pPr>
            <a:r>
              <a:rPr dirty="0" sz="2850" spc="-50">
                <a:latin typeface="Arial MT"/>
                <a:cs typeface="Arial MT"/>
              </a:rPr>
              <a:t>RetailSense</a:t>
            </a:r>
            <a:r>
              <a:rPr dirty="0" sz="2850" spc="-70">
                <a:latin typeface="Arial MT"/>
                <a:cs typeface="Arial MT"/>
              </a:rPr>
              <a:t> </a:t>
            </a:r>
            <a:r>
              <a:rPr dirty="0" sz="2850" spc="-25">
                <a:latin typeface="Arial MT"/>
                <a:cs typeface="Arial MT"/>
              </a:rPr>
              <a:t>AI</a:t>
            </a:r>
            <a:endParaRPr sz="2850">
              <a:latin typeface="Arial MT"/>
              <a:cs typeface="Arial MT"/>
            </a:endParaRPr>
          </a:p>
          <a:p>
            <a:pPr algn="ctr" marL="20320">
              <a:lnSpc>
                <a:spcPts val="3640"/>
              </a:lnSpc>
            </a:pPr>
            <a:r>
              <a:rPr dirty="0" sz="3250" spc="-240">
                <a:latin typeface="Arial MT"/>
                <a:cs typeface="Arial MT"/>
              </a:rPr>
              <a:t>Local</a:t>
            </a:r>
            <a:r>
              <a:rPr dirty="0" sz="3250" spc="-180">
                <a:latin typeface="Arial MT"/>
                <a:cs typeface="Arial MT"/>
              </a:rPr>
              <a:t> </a:t>
            </a:r>
            <a:r>
              <a:rPr dirty="0" sz="3250" spc="-300">
                <a:latin typeface="Arial MT"/>
                <a:cs typeface="Arial MT"/>
              </a:rPr>
              <a:t>Agent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652095" y="2057047"/>
            <a:ext cx="12609830" cy="1827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62285" algn="l"/>
              </a:tabLst>
            </a:pPr>
            <a:r>
              <a:rPr dirty="0" sz="3400" spc="125">
                <a:solidFill>
                  <a:srgbClr val="2A2A2A"/>
                </a:solidFill>
                <a:latin typeface="Arial MT"/>
                <a:cs typeface="Arial MT"/>
              </a:rPr>
              <a:t>Inputs</a:t>
            </a:r>
            <a:r>
              <a:rPr dirty="0" sz="3400">
                <a:solidFill>
                  <a:srgbClr val="2A2A2A"/>
                </a:solidFill>
                <a:latin typeface="Arial MT"/>
                <a:cs typeface="Arial MT"/>
              </a:rPr>
              <a:t>	</a:t>
            </a:r>
            <a:r>
              <a:rPr dirty="0" sz="3300" spc="70">
                <a:solidFill>
                  <a:srgbClr val="282828"/>
                </a:solidFill>
                <a:latin typeface="Arial MT"/>
                <a:cs typeface="Arial MT"/>
              </a:rPr>
              <a:t>Outputs</a:t>
            </a:r>
            <a:endParaRPr sz="3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3300">
              <a:latin typeface="Arial MT"/>
              <a:cs typeface="Arial MT"/>
            </a:endParaRPr>
          </a:p>
          <a:p>
            <a:pPr algn="r" marL="11775440" marR="5080" indent="-17780">
              <a:lnSpc>
                <a:spcPts val="2950"/>
              </a:lnSpc>
            </a:pPr>
            <a:r>
              <a:rPr dirty="0" sz="2900" spc="-240">
                <a:latin typeface="Arial MT"/>
                <a:cs typeface="Arial MT"/>
              </a:rPr>
              <a:t>Smart </a:t>
            </a:r>
            <a:r>
              <a:rPr dirty="0" sz="2900" spc="-170">
                <a:latin typeface="Arial MT"/>
                <a:cs typeface="Arial MT"/>
              </a:rPr>
              <a:t>Alerts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424508" y="7095066"/>
            <a:ext cx="12620625" cy="22891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328295">
              <a:lnSpc>
                <a:spcPct val="100000"/>
              </a:lnSpc>
              <a:spcBef>
                <a:spcPts val="130"/>
              </a:spcBef>
              <a:tabLst>
                <a:tab pos="1116330" algn="l"/>
                <a:tab pos="1557655" algn="l"/>
              </a:tabLst>
            </a:pPr>
            <a:r>
              <a:rPr dirty="0" sz="4550" spc="-335">
                <a:solidFill>
                  <a:srgbClr val="CDA052"/>
                </a:solidFill>
                <a:latin typeface="Arial MT"/>
                <a:cs typeface="Arial MT"/>
              </a:rPr>
              <a:t>l</a:t>
            </a:r>
            <a:r>
              <a:rPr dirty="0" sz="4550">
                <a:solidFill>
                  <a:srgbClr val="CDA052"/>
                </a:solidFill>
                <a:latin typeface="Arial MT"/>
                <a:cs typeface="Arial MT"/>
              </a:rPr>
              <a:t>	</a:t>
            </a:r>
            <a:r>
              <a:rPr dirty="0" sz="4550" spc="-1925">
                <a:latin typeface="Arial MT"/>
                <a:cs typeface="Arial MT"/>
              </a:rPr>
              <a:t>N</a:t>
            </a:r>
            <a:r>
              <a:rPr dirty="0" sz="4550">
                <a:latin typeface="Arial MT"/>
                <a:cs typeface="Arial MT"/>
              </a:rPr>
              <a:t>	</a:t>
            </a:r>
            <a:r>
              <a:rPr dirty="0" sz="4550" spc="-720">
                <a:latin typeface="Arial MT"/>
                <a:cs typeface="Arial MT"/>
              </a:rPr>
              <a:t>I</a:t>
            </a:r>
            <a:r>
              <a:rPr dirty="0" sz="4550" spc="70">
                <a:latin typeface="Arial MT"/>
                <a:cs typeface="Arial MT"/>
              </a:rPr>
              <a:t> </a:t>
            </a:r>
            <a:r>
              <a:rPr dirty="0" sz="4550" spc="-1200">
                <a:latin typeface="Arial MT"/>
                <a:cs typeface="Arial MT"/>
              </a:rPr>
              <a:t>Need</a:t>
            </a:r>
            <a:r>
              <a:rPr dirty="0" sz="4550" spc="590">
                <a:latin typeface="Arial MT"/>
                <a:cs typeface="Arial MT"/>
              </a:rPr>
              <a:t> </a:t>
            </a:r>
            <a:r>
              <a:rPr dirty="0" sz="4550" spc="-1035">
                <a:latin typeface="Arial MT"/>
                <a:cs typeface="Arial MT"/>
              </a:rPr>
              <a:t>d</a:t>
            </a:r>
            <a:endParaRPr sz="4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4550">
              <a:latin typeface="Arial MT"/>
              <a:cs typeface="Arial MT"/>
            </a:endParaRPr>
          </a:p>
          <a:p>
            <a:pPr marL="798830" marR="5080" indent="-786765">
              <a:lnSpc>
                <a:spcPts val="3400"/>
              </a:lnSpc>
            </a:pPr>
            <a:r>
              <a:rPr dirty="0" sz="3200" spc="-290">
                <a:latin typeface="Arial MT"/>
                <a:cs typeface="Arial MT"/>
              </a:rPr>
              <a:t>Your</a:t>
            </a:r>
            <a:r>
              <a:rPr dirty="0" sz="3200" spc="-60">
                <a:latin typeface="Arial MT"/>
                <a:cs typeface="Arial MT"/>
              </a:rPr>
              <a:t> </a:t>
            </a:r>
            <a:r>
              <a:rPr dirty="0" sz="3200" spc="-160">
                <a:latin typeface="Arial MT"/>
                <a:cs typeface="Arial MT"/>
              </a:rPr>
              <a:t>data</a:t>
            </a:r>
            <a:r>
              <a:rPr dirty="0" sz="3200" spc="-75">
                <a:latin typeface="Arial MT"/>
                <a:cs typeface="Arial MT"/>
              </a:rPr>
              <a:t> </a:t>
            </a:r>
            <a:r>
              <a:rPr dirty="0" sz="3200" spc="-215">
                <a:latin typeface="Arial MT"/>
                <a:cs typeface="Arial MT"/>
              </a:rPr>
              <a:t>stays</a:t>
            </a:r>
            <a:r>
              <a:rPr dirty="0" sz="3200" spc="-90">
                <a:latin typeface="Arial MT"/>
                <a:cs typeface="Arial MT"/>
              </a:rPr>
              <a:t> with</a:t>
            </a:r>
            <a:r>
              <a:rPr dirty="0" sz="3200" spc="-135">
                <a:latin typeface="Arial MT"/>
                <a:cs typeface="Arial MT"/>
              </a:rPr>
              <a:t> </a:t>
            </a:r>
            <a:r>
              <a:rPr dirty="0" sz="3200" spc="-175">
                <a:latin typeface="Arial MT"/>
                <a:cs typeface="Arial MT"/>
              </a:rPr>
              <a:t>you,</a:t>
            </a:r>
            <a:r>
              <a:rPr dirty="0" sz="3200" spc="-114">
                <a:latin typeface="Arial MT"/>
                <a:cs typeface="Arial MT"/>
              </a:rPr>
              <a:t> </a:t>
            </a:r>
            <a:r>
              <a:rPr dirty="0" sz="3200" spc="-225">
                <a:latin typeface="Arial MT"/>
                <a:cs typeface="Arial MT"/>
              </a:rPr>
              <a:t>on</a:t>
            </a:r>
            <a:r>
              <a:rPr dirty="0" sz="3200" spc="-165">
                <a:latin typeface="Arial MT"/>
                <a:cs typeface="Arial MT"/>
              </a:rPr>
              <a:t> </a:t>
            </a:r>
            <a:r>
              <a:rPr dirty="0" sz="3200" spc="-185">
                <a:latin typeface="Arial MT"/>
                <a:cs typeface="Arial MT"/>
              </a:rPr>
              <a:t>your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204">
                <a:latin typeface="Arial MT"/>
                <a:cs typeface="Arial MT"/>
              </a:rPr>
              <a:t>machine.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 spc="-459">
                <a:latin typeface="Arial MT"/>
                <a:cs typeface="Arial MT"/>
              </a:rPr>
              <a:t>We</a:t>
            </a:r>
            <a:r>
              <a:rPr dirty="0" sz="3200" spc="-90">
                <a:latin typeface="Arial MT"/>
                <a:cs typeface="Arial MT"/>
              </a:rPr>
              <a:t> </a:t>
            </a:r>
            <a:r>
              <a:rPr dirty="0" sz="3200" spc="-160">
                <a:latin typeface="Arial MT"/>
                <a:cs typeface="Arial MT"/>
              </a:rPr>
              <a:t>provide</a:t>
            </a:r>
            <a:r>
              <a:rPr dirty="0" sz="3200" spc="25">
                <a:latin typeface="Arial MT"/>
                <a:cs typeface="Arial MT"/>
              </a:rPr>
              <a:t> </a:t>
            </a:r>
            <a:r>
              <a:rPr dirty="0" sz="3200" spc="-130">
                <a:latin typeface="Arial MT"/>
                <a:cs typeface="Arial MT"/>
              </a:rPr>
              <a:t>the </a:t>
            </a:r>
            <a:r>
              <a:rPr dirty="0" sz="3200" spc="-140">
                <a:latin typeface="Arial MT"/>
                <a:cs typeface="Arial MT"/>
              </a:rPr>
              <a:t>intelligence</a:t>
            </a:r>
            <a:r>
              <a:rPr dirty="0" sz="3200" spc="135">
                <a:latin typeface="Arial MT"/>
                <a:cs typeface="Arial MT"/>
              </a:rPr>
              <a:t> </a:t>
            </a:r>
            <a:r>
              <a:rPr dirty="0" sz="3200" spc="-35">
                <a:latin typeface="Arial MT"/>
                <a:cs typeface="Arial MT"/>
              </a:rPr>
              <a:t>locally, </a:t>
            </a:r>
            <a:r>
              <a:rPr dirty="0" sz="3200" spc="-130">
                <a:latin typeface="Arial MT"/>
                <a:cs typeface="Arial MT"/>
              </a:rPr>
              <a:t>eliminating</a:t>
            </a:r>
            <a:r>
              <a:rPr dirty="0" sz="3200" spc="-85">
                <a:latin typeface="Arial MT"/>
                <a:cs typeface="Arial MT"/>
              </a:rPr>
              <a:t> </a:t>
            </a:r>
            <a:r>
              <a:rPr dirty="0" sz="3200" spc="-180">
                <a:latin typeface="Arial MT"/>
                <a:cs typeface="Arial MT"/>
              </a:rPr>
              <a:t>cloud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 spc="-170">
                <a:latin typeface="Arial MT"/>
                <a:cs typeface="Arial MT"/>
              </a:rPr>
              <a:t>privacy</a:t>
            </a:r>
            <a:r>
              <a:rPr dirty="0" sz="3200" spc="100">
                <a:latin typeface="Arial MT"/>
                <a:cs typeface="Arial MT"/>
              </a:rPr>
              <a:t> </a:t>
            </a:r>
            <a:r>
              <a:rPr dirty="0" sz="3200" spc="-175">
                <a:latin typeface="Arial MT"/>
                <a:cs typeface="Arial MT"/>
              </a:rPr>
              <a:t>risks</a:t>
            </a:r>
            <a:r>
              <a:rPr dirty="0" sz="3200" spc="-75">
                <a:latin typeface="Arial MT"/>
                <a:cs typeface="Arial MT"/>
              </a:rPr>
              <a:t> </a:t>
            </a:r>
            <a:r>
              <a:rPr dirty="0" sz="3200" spc="-225">
                <a:latin typeface="Arial MT"/>
                <a:cs typeface="Arial MT"/>
              </a:rPr>
              <a:t>and</a:t>
            </a:r>
            <a:r>
              <a:rPr dirty="0" sz="3200" spc="-75">
                <a:latin typeface="Arial MT"/>
                <a:cs typeface="Arial MT"/>
              </a:rPr>
              <a:t> </a:t>
            </a:r>
            <a:r>
              <a:rPr dirty="0" sz="3200" spc="-160">
                <a:latin typeface="Arial MT"/>
                <a:cs typeface="Arial MT"/>
              </a:rPr>
              <a:t>reliance</a:t>
            </a:r>
            <a:r>
              <a:rPr dirty="0" sz="3200" spc="45">
                <a:latin typeface="Arial MT"/>
                <a:cs typeface="Arial MT"/>
              </a:rPr>
              <a:t> </a:t>
            </a:r>
            <a:r>
              <a:rPr dirty="0" sz="3200" spc="-225">
                <a:latin typeface="Arial MT"/>
                <a:cs typeface="Arial MT"/>
              </a:rPr>
              <a:t>on</a:t>
            </a:r>
            <a:r>
              <a:rPr dirty="0" sz="3200" spc="-130">
                <a:latin typeface="Arial MT"/>
                <a:cs typeface="Arial MT"/>
              </a:rPr>
              <a:t> </a:t>
            </a:r>
            <a:r>
              <a:rPr dirty="0" sz="3200" spc="-140">
                <a:latin typeface="Arial MT"/>
                <a:cs typeface="Arial MT"/>
              </a:rPr>
              <a:t>external </a:t>
            </a:r>
            <a:r>
              <a:rPr dirty="0" sz="3200" spc="-55">
                <a:latin typeface="Arial MT"/>
                <a:cs typeface="Arial MT"/>
              </a:rPr>
              <a:t>connections.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4401545" y="4620330"/>
            <a:ext cx="1819275" cy="79819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270"/>
              </a:spcBef>
            </a:pPr>
            <a:r>
              <a:rPr dirty="0" sz="2550" spc="-50">
                <a:latin typeface="Arial MT"/>
                <a:cs typeface="Arial MT"/>
              </a:rPr>
              <a:t>Performance </a:t>
            </a:r>
            <a:r>
              <a:rPr dirty="0" sz="2550" spc="-10">
                <a:latin typeface="Arial MT"/>
                <a:cs typeface="Arial MT"/>
              </a:rPr>
              <a:t>Reports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4400427" y="6139391"/>
            <a:ext cx="1386840" cy="8159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195"/>
              </a:lnSpc>
              <a:spcBef>
                <a:spcPts val="105"/>
              </a:spcBef>
            </a:pPr>
            <a:r>
              <a:rPr dirty="0" sz="2700" spc="-20">
                <a:latin typeface="Arial MT"/>
                <a:cs typeface="Arial MT"/>
              </a:rPr>
              <a:t>Demand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ts val="3015"/>
              </a:lnSpc>
            </a:pPr>
            <a:r>
              <a:rPr dirty="0" sz="2550" spc="-55">
                <a:latin typeface="Arial MT"/>
                <a:cs typeface="Arial MT"/>
              </a:rPr>
              <a:t>Forecasts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00" y="5676900"/>
            <a:ext cx="1168400" cy="1422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66600" y="5880100"/>
            <a:ext cx="1485900" cy="1117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51300" y="1651000"/>
            <a:ext cx="1143000" cy="1346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04700" y="1676400"/>
            <a:ext cx="1231900" cy="1295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30605">
              <a:lnSpc>
                <a:spcPct val="100000"/>
              </a:lnSpc>
              <a:spcBef>
                <a:spcPts val="105"/>
              </a:spcBef>
            </a:pPr>
            <a:r>
              <a:rPr dirty="0" sz="6450" spc="150">
                <a:solidFill>
                  <a:srgbClr val="2A2A2A"/>
                </a:solidFill>
                <a:latin typeface="Calibri"/>
                <a:cs typeface="Calibri"/>
              </a:rPr>
              <a:t>Core</a:t>
            </a:r>
            <a:r>
              <a:rPr dirty="0" sz="6450" spc="-36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6450" spc="90">
                <a:solidFill>
                  <a:srgbClr val="282828"/>
                </a:solidFill>
                <a:latin typeface="Calibri"/>
                <a:cs typeface="Calibri"/>
              </a:rPr>
              <a:t>Capabilities,</a:t>
            </a:r>
            <a:r>
              <a:rPr dirty="0" sz="6450" spc="34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6450" spc="55">
                <a:solidFill>
                  <a:srgbClr val="2A2A2A"/>
                </a:solidFill>
                <a:latin typeface="Calibri"/>
                <a:cs typeface="Calibri"/>
              </a:rPr>
              <a:t>Reimagined</a:t>
            </a:r>
            <a:r>
              <a:rPr dirty="0" sz="6450" spc="1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6450" spc="-85">
                <a:solidFill>
                  <a:srgbClr val="2A2A2A"/>
                </a:solidFill>
                <a:latin typeface="Calibri"/>
                <a:cs typeface="Calibri"/>
              </a:rPr>
              <a:t>for</a:t>
            </a:r>
            <a:r>
              <a:rPr dirty="0" sz="6450" spc="-36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6450" spc="105">
                <a:solidFill>
                  <a:srgbClr val="2B2B2B"/>
                </a:solidFill>
                <a:latin typeface="Calibri"/>
                <a:cs typeface="Calibri"/>
              </a:rPr>
              <a:t>Retail</a:t>
            </a:r>
            <a:endParaRPr sz="64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85"/>
              </a:lnSpc>
            </a:pPr>
            <a:r>
              <a:rPr dirty="0">
                <a:latin typeface="Arial MT"/>
                <a:cs typeface="Arial MT"/>
              </a:rPr>
              <a:t>G</a:t>
            </a:r>
            <a:r>
              <a:rPr dirty="0" spc="270">
                <a:latin typeface="Arial MT"/>
                <a:cs typeface="Arial MT"/>
              </a:rPr>
              <a:t> </a:t>
            </a:r>
            <a:r>
              <a:rPr dirty="0" spc="-90">
                <a:latin typeface="Arial MT"/>
                <a:cs typeface="Arial MT"/>
              </a:rPr>
              <a:t>NotebookLM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001917" y="3113418"/>
            <a:ext cx="7191375" cy="205803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algn="ctr" marL="19685">
              <a:lnSpc>
                <a:spcPct val="100000"/>
              </a:lnSpc>
              <a:spcBef>
                <a:spcPts val="685"/>
              </a:spcBef>
            </a:pPr>
            <a:r>
              <a:rPr dirty="0" sz="3550" spc="50">
                <a:solidFill>
                  <a:srgbClr val="262626"/>
                </a:solidFill>
                <a:latin typeface="Arial MT"/>
                <a:cs typeface="Arial MT"/>
              </a:rPr>
              <a:t>Automated</a:t>
            </a:r>
            <a:r>
              <a:rPr dirty="0" sz="3550" spc="-1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3550" spc="95">
                <a:solidFill>
                  <a:srgbClr val="212121"/>
                </a:solidFill>
                <a:latin typeface="Arial MT"/>
                <a:cs typeface="Arial MT"/>
              </a:rPr>
              <a:t>Insights</a:t>
            </a:r>
            <a:endParaRPr sz="3550">
              <a:latin typeface="Arial MT"/>
              <a:cs typeface="Arial MT"/>
            </a:endParaRPr>
          </a:p>
          <a:p>
            <a:pPr algn="ctr" marL="12065" marR="5080">
              <a:lnSpc>
                <a:spcPts val="3300"/>
              </a:lnSpc>
              <a:spcBef>
                <a:spcPts val="1250"/>
              </a:spcBef>
            </a:pPr>
            <a:r>
              <a:rPr dirty="0" sz="3300" spc="-140">
                <a:latin typeface="Arial MT"/>
                <a:cs typeface="Arial MT"/>
              </a:rPr>
              <a:t>Instantly</a:t>
            </a:r>
            <a:r>
              <a:rPr dirty="0" sz="3300" spc="-5">
                <a:latin typeface="Arial MT"/>
                <a:cs typeface="Arial MT"/>
              </a:rPr>
              <a:t> </a:t>
            </a:r>
            <a:r>
              <a:rPr dirty="0" sz="3300" spc="-270">
                <a:latin typeface="Arial MT"/>
                <a:cs typeface="Arial MT"/>
              </a:rPr>
              <a:t>understand</a:t>
            </a:r>
            <a:r>
              <a:rPr dirty="0" sz="3300" spc="125">
                <a:latin typeface="Arial MT"/>
                <a:cs typeface="Arial MT"/>
              </a:rPr>
              <a:t> </a:t>
            </a:r>
            <a:r>
              <a:rPr dirty="0" sz="3300" spc="-275">
                <a:latin typeface="Arial MT"/>
                <a:cs typeface="Arial MT"/>
              </a:rPr>
              <a:t>your</a:t>
            </a:r>
            <a:r>
              <a:rPr dirty="0" sz="3300" spc="-50">
                <a:latin typeface="Arial MT"/>
                <a:cs typeface="Arial MT"/>
              </a:rPr>
              <a:t> </a:t>
            </a:r>
            <a:r>
              <a:rPr dirty="0" sz="3300" spc="-280">
                <a:latin typeface="Arial MT"/>
                <a:cs typeface="Arial MT"/>
              </a:rPr>
              <a:t>sales,</a:t>
            </a:r>
            <a:r>
              <a:rPr dirty="0" sz="3300" spc="-60">
                <a:latin typeface="Arial MT"/>
                <a:cs typeface="Arial MT"/>
              </a:rPr>
              <a:t> </a:t>
            </a:r>
            <a:r>
              <a:rPr dirty="0" sz="3300" spc="-265">
                <a:latin typeface="Arial MT"/>
                <a:cs typeface="Arial MT"/>
              </a:rPr>
              <a:t>stock</a:t>
            </a:r>
            <a:r>
              <a:rPr dirty="0" sz="3300" spc="15">
                <a:latin typeface="Arial MT"/>
                <a:cs typeface="Arial MT"/>
              </a:rPr>
              <a:t> </a:t>
            </a:r>
            <a:r>
              <a:rPr dirty="0" sz="3300" spc="-160">
                <a:latin typeface="Arial MT"/>
                <a:cs typeface="Arial MT"/>
              </a:rPr>
              <a:t>levels, </a:t>
            </a:r>
            <a:r>
              <a:rPr dirty="0" sz="3300" spc="-355">
                <a:latin typeface="Arial MT"/>
                <a:cs typeface="Arial MT"/>
              </a:rPr>
              <a:t>and</a:t>
            </a:r>
            <a:r>
              <a:rPr dirty="0" sz="3300" spc="-125">
                <a:latin typeface="Arial MT"/>
                <a:cs typeface="Arial MT"/>
              </a:rPr>
              <a:t> </a:t>
            </a:r>
            <a:r>
              <a:rPr dirty="0" sz="3300" spc="-280">
                <a:latin typeface="Arial MT"/>
                <a:cs typeface="Arial MT"/>
              </a:rPr>
              <a:t>emerging</a:t>
            </a:r>
            <a:r>
              <a:rPr dirty="0" sz="3300" spc="-225">
                <a:latin typeface="Arial MT"/>
                <a:cs typeface="Arial MT"/>
              </a:rPr>
              <a:t> </a:t>
            </a:r>
            <a:r>
              <a:rPr dirty="0" sz="3300" spc="-220">
                <a:latin typeface="Arial MT"/>
                <a:cs typeface="Arial MT"/>
              </a:rPr>
              <a:t>trends</a:t>
            </a:r>
            <a:r>
              <a:rPr dirty="0" sz="3300" spc="-10">
                <a:latin typeface="Arial MT"/>
                <a:cs typeface="Arial MT"/>
              </a:rPr>
              <a:t> </a:t>
            </a:r>
            <a:r>
              <a:rPr dirty="0" sz="3300" spc="-180">
                <a:latin typeface="Arial MT"/>
                <a:cs typeface="Arial MT"/>
              </a:rPr>
              <a:t>with</a:t>
            </a:r>
            <a:r>
              <a:rPr dirty="0" sz="3300" spc="-245">
                <a:latin typeface="Arial MT"/>
                <a:cs typeface="Arial MT"/>
              </a:rPr>
              <a:t> </a:t>
            </a:r>
            <a:r>
              <a:rPr dirty="0" sz="3300" spc="-229">
                <a:latin typeface="Arial MT"/>
                <a:cs typeface="Arial MT"/>
              </a:rPr>
              <a:t>automatic</a:t>
            </a:r>
            <a:r>
              <a:rPr dirty="0" sz="3300" spc="45">
                <a:latin typeface="Arial MT"/>
                <a:cs typeface="Arial MT"/>
              </a:rPr>
              <a:t> </a:t>
            </a:r>
            <a:r>
              <a:rPr dirty="0" sz="3300" spc="-20">
                <a:latin typeface="Arial MT"/>
                <a:cs typeface="Arial MT"/>
              </a:rPr>
              <a:t>data </a:t>
            </a:r>
            <a:r>
              <a:rPr dirty="0" sz="3300" spc="-275">
                <a:latin typeface="Arial MT"/>
                <a:cs typeface="Arial MT"/>
              </a:rPr>
              <a:t>analysis.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331900" y="3113418"/>
            <a:ext cx="6943090" cy="205803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algn="just" marL="1798320">
              <a:lnSpc>
                <a:spcPct val="100000"/>
              </a:lnSpc>
              <a:spcBef>
                <a:spcPts val="685"/>
              </a:spcBef>
            </a:pPr>
            <a:r>
              <a:rPr dirty="0" sz="3550" spc="-30">
                <a:solidFill>
                  <a:srgbClr val="1F1F1F"/>
                </a:solidFill>
                <a:latin typeface="Arial MT"/>
                <a:cs typeface="Arial MT"/>
              </a:rPr>
              <a:t>Live</a:t>
            </a:r>
            <a:r>
              <a:rPr dirty="0" sz="3550" spc="-32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3550" spc="70">
                <a:solidFill>
                  <a:srgbClr val="1F1F1F"/>
                </a:solidFill>
                <a:latin typeface="Arial MT"/>
                <a:cs typeface="Arial MT"/>
              </a:rPr>
              <a:t>Intelligence</a:t>
            </a:r>
            <a:endParaRPr sz="3550">
              <a:latin typeface="Arial MT"/>
              <a:cs typeface="Arial MT"/>
            </a:endParaRPr>
          </a:p>
          <a:p>
            <a:pPr algn="just" marL="12700" marR="5080" indent="168275">
              <a:lnSpc>
                <a:spcPts val="3300"/>
              </a:lnSpc>
              <a:spcBef>
                <a:spcPts val="1250"/>
              </a:spcBef>
            </a:pPr>
            <a:r>
              <a:rPr dirty="0" sz="3300" spc="-540">
                <a:latin typeface="Arial MT"/>
                <a:cs typeface="Arial MT"/>
              </a:rPr>
              <a:t>Ask</a:t>
            </a:r>
            <a:r>
              <a:rPr dirty="0" sz="3300" spc="310">
                <a:latin typeface="Arial MT"/>
                <a:cs typeface="Arial MT"/>
              </a:rPr>
              <a:t> </a:t>
            </a:r>
            <a:r>
              <a:rPr dirty="0" sz="3300" spc="-240">
                <a:latin typeface="Arial MT"/>
                <a:cs typeface="Arial MT"/>
              </a:rPr>
              <a:t>plain-</a:t>
            </a:r>
            <a:r>
              <a:rPr dirty="0" sz="3300" spc="-270">
                <a:latin typeface="Arial MT"/>
                <a:cs typeface="Arial MT"/>
              </a:rPr>
              <a:t>English</a:t>
            </a:r>
            <a:r>
              <a:rPr dirty="0" sz="3300" spc="40">
                <a:latin typeface="Arial MT"/>
                <a:cs typeface="Arial MT"/>
              </a:rPr>
              <a:t> </a:t>
            </a:r>
            <a:r>
              <a:rPr dirty="0" sz="3300" spc="-254">
                <a:latin typeface="Arial MT"/>
                <a:cs typeface="Arial MT"/>
              </a:rPr>
              <a:t>questions</a:t>
            </a:r>
            <a:r>
              <a:rPr dirty="0" sz="3300" spc="30">
                <a:latin typeface="Arial MT"/>
                <a:cs typeface="Arial MT"/>
              </a:rPr>
              <a:t> </a:t>
            </a:r>
            <a:r>
              <a:rPr dirty="0" sz="3300" spc="-175">
                <a:latin typeface="Arial MT"/>
                <a:cs typeface="Arial MT"/>
              </a:rPr>
              <a:t>directly</a:t>
            </a:r>
            <a:r>
              <a:rPr dirty="0" sz="3300" spc="180">
                <a:latin typeface="Arial MT"/>
                <a:cs typeface="Arial MT"/>
              </a:rPr>
              <a:t> </a:t>
            </a:r>
            <a:r>
              <a:rPr dirty="0" sz="3300" spc="-280">
                <a:latin typeface="Arial MT"/>
                <a:cs typeface="Arial MT"/>
              </a:rPr>
              <a:t>to</a:t>
            </a:r>
            <a:r>
              <a:rPr dirty="0" sz="3300" spc="55">
                <a:latin typeface="Arial MT"/>
                <a:cs typeface="Arial MT"/>
              </a:rPr>
              <a:t> </a:t>
            </a:r>
            <a:r>
              <a:rPr dirty="0" sz="3300" spc="-25">
                <a:latin typeface="Arial MT"/>
                <a:cs typeface="Arial MT"/>
              </a:rPr>
              <a:t>the </a:t>
            </a:r>
            <a:r>
              <a:rPr dirty="0" sz="3300" spc="-290">
                <a:latin typeface="Arial MT"/>
                <a:cs typeface="Arial MT"/>
              </a:rPr>
              <a:t>agent,</a:t>
            </a:r>
            <a:r>
              <a:rPr dirty="0" sz="3300" spc="60">
                <a:latin typeface="Arial MT"/>
                <a:cs typeface="Arial MT"/>
              </a:rPr>
              <a:t> </a:t>
            </a:r>
            <a:r>
              <a:rPr dirty="0" sz="3300" spc="-420">
                <a:latin typeface="Arial MT"/>
                <a:cs typeface="Arial MT"/>
              </a:rPr>
              <a:t>such</a:t>
            </a:r>
            <a:r>
              <a:rPr dirty="0" sz="3300" spc="190">
                <a:latin typeface="Arial MT"/>
                <a:cs typeface="Arial MT"/>
              </a:rPr>
              <a:t> </a:t>
            </a:r>
            <a:r>
              <a:rPr dirty="0" sz="3300" spc="-625">
                <a:latin typeface="Arial MT"/>
                <a:cs typeface="Arial MT"/>
              </a:rPr>
              <a:t>as</a:t>
            </a:r>
            <a:r>
              <a:rPr dirty="0" sz="3300" spc="400">
                <a:latin typeface="Arial MT"/>
                <a:cs typeface="Arial MT"/>
              </a:rPr>
              <a:t> </a:t>
            </a:r>
            <a:r>
              <a:rPr dirty="0" sz="3300" spc="-254">
                <a:latin typeface="Arial MT"/>
                <a:cs typeface="Arial MT"/>
              </a:rPr>
              <a:t>“What</a:t>
            </a:r>
            <a:r>
              <a:rPr dirty="0" sz="3300" spc="85">
                <a:latin typeface="Arial MT"/>
                <a:cs typeface="Arial MT"/>
              </a:rPr>
              <a:t> </a:t>
            </a:r>
            <a:r>
              <a:rPr dirty="0" sz="3300" spc="-375">
                <a:latin typeface="Arial MT"/>
                <a:cs typeface="Arial MT"/>
              </a:rPr>
              <a:t>were</a:t>
            </a:r>
            <a:r>
              <a:rPr dirty="0" sz="3300" spc="145">
                <a:latin typeface="Arial MT"/>
                <a:cs typeface="Arial MT"/>
              </a:rPr>
              <a:t> </a:t>
            </a:r>
            <a:r>
              <a:rPr dirty="0" sz="3300" spc="-385">
                <a:latin typeface="Arial MT"/>
                <a:cs typeface="Arial MT"/>
              </a:rPr>
              <a:t>our</a:t>
            </a:r>
            <a:r>
              <a:rPr dirty="0" sz="3300" spc="155">
                <a:latin typeface="Arial MT"/>
                <a:cs typeface="Arial MT"/>
              </a:rPr>
              <a:t> </a:t>
            </a:r>
            <a:r>
              <a:rPr dirty="0" sz="3300" spc="-250">
                <a:latin typeface="Arial MT"/>
                <a:cs typeface="Arial MT"/>
              </a:rPr>
              <a:t>top</a:t>
            </a:r>
            <a:r>
              <a:rPr dirty="0" sz="3300" spc="95">
                <a:latin typeface="Arial MT"/>
                <a:cs typeface="Arial MT"/>
              </a:rPr>
              <a:t> </a:t>
            </a:r>
            <a:r>
              <a:rPr dirty="0" sz="3300" spc="-180">
                <a:latin typeface="Arial MT"/>
                <a:cs typeface="Arial MT"/>
              </a:rPr>
              <a:t>products this</a:t>
            </a:r>
            <a:r>
              <a:rPr dirty="0" sz="3300" spc="-20">
                <a:latin typeface="Arial MT"/>
                <a:cs typeface="Arial MT"/>
              </a:rPr>
              <a:t> </a:t>
            </a:r>
            <a:r>
              <a:rPr dirty="0" sz="3300" spc="-285">
                <a:latin typeface="Arial MT"/>
                <a:cs typeface="Arial MT"/>
              </a:rPr>
              <a:t>week?”</a:t>
            </a:r>
            <a:r>
              <a:rPr dirty="0" sz="3300" spc="-35">
                <a:latin typeface="Arial MT"/>
                <a:cs typeface="Arial MT"/>
              </a:rPr>
              <a:t> </a:t>
            </a:r>
            <a:r>
              <a:rPr dirty="0" sz="3300" spc="-235">
                <a:latin typeface="Arial MT"/>
                <a:cs typeface="Arial MT"/>
              </a:rPr>
              <a:t>or</a:t>
            </a:r>
            <a:r>
              <a:rPr dirty="0" sz="3300" spc="-125">
                <a:latin typeface="Arial MT"/>
                <a:cs typeface="Arial MT"/>
              </a:rPr>
              <a:t> </a:t>
            </a:r>
            <a:r>
              <a:rPr dirty="0" sz="3300" spc="-305">
                <a:latin typeface="Arial MT"/>
                <a:cs typeface="Arial MT"/>
              </a:rPr>
              <a:t>“Show</a:t>
            </a:r>
            <a:r>
              <a:rPr dirty="0" sz="3300" spc="-30">
                <a:latin typeface="Arial MT"/>
                <a:cs typeface="Arial MT"/>
              </a:rPr>
              <a:t> </a:t>
            </a:r>
            <a:r>
              <a:rPr dirty="0" sz="3300" spc="-350">
                <a:latin typeface="Arial MT"/>
                <a:cs typeface="Arial MT"/>
              </a:rPr>
              <a:t>me</a:t>
            </a:r>
            <a:r>
              <a:rPr dirty="0" sz="3300" spc="-145">
                <a:latin typeface="Arial MT"/>
                <a:cs typeface="Arial MT"/>
              </a:rPr>
              <a:t> </a:t>
            </a:r>
            <a:r>
              <a:rPr dirty="0" sz="3300" spc="-270">
                <a:latin typeface="Arial MT"/>
                <a:cs typeface="Arial MT"/>
              </a:rPr>
              <a:t>low</a:t>
            </a:r>
            <a:r>
              <a:rPr dirty="0" sz="3300" spc="5">
                <a:latin typeface="Arial MT"/>
                <a:cs typeface="Arial MT"/>
              </a:rPr>
              <a:t> </a:t>
            </a:r>
            <a:r>
              <a:rPr dirty="0" sz="3300" spc="-254">
                <a:latin typeface="Arial MT"/>
                <a:cs typeface="Arial MT"/>
              </a:rPr>
              <a:t>stock</a:t>
            </a:r>
            <a:r>
              <a:rPr dirty="0" sz="3300" spc="-170">
                <a:latin typeface="Arial MT"/>
                <a:cs typeface="Arial MT"/>
              </a:rPr>
              <a:t> </a:t>
            </a:r>
            <a:r>
              <a:rPr dirty="0" sz="3300" spc="-10">
                <a:latin typeface="Arial MT"/>
                <a:cs typeface="Arial MT"/>
              </a:rPr>
              <a:t>items”.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32980" y="7185877"/>
            <a:ext cx="7225665" cy="204914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382395">
              <a:lnSpc>
                <a:spcPct val="100000"/>
              </a:lnSpc>
              <a:spcBef>
                <a:spcPts val="715"/>
              </a:spcBef>
            </a:pPr>
            <a:r>
              <a:rPr dirty="0" sz="3450" spc="105">
                <a:solidFill>
                  <a:srgbClr val="232323"/>
                </a:solidFill>
                <a:latin typeface="Arial MT"/>
                <a:cs typeface="Arial MT"/>
              </a:rPr>
              <a:t>Proactive</a:t>
            </a:r>
            <a:r>
              <a:rPr dirty="0" sz="3450" spc="-14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3450" spc="65">
                <a:solidFill>
                  <a:srgbClr val="212121"/>
                </a:solidFill>
                <a:latin typeface="Arial MT"/>
                <a:cs typeface="Arial MT"/>
              </a:rPr>
              <a:t>Forecasting</a:t>
            </a:r>
            <a:endParaRPr sz="3450">
              <a:latin typeface="Arial MT"/>
              <a:cs typeface="Arial MT"/>
            </a:endParaRPr>
          </a:p>
          <a:p>
            <a:pPr algn="ctr" marL="12700" marR="5080" indent="-30480">
              <a:lnSpc>
                <a:spcPts val="3300"/>
              </a:lnSpc>
              <a:spcBef>
                <a:spcPts val="1270"/>
              </a:spcBef>
            </a:pPr>
            <a:r>
              <a:rPr dirty="0" sz="3300" spc="-140">
                <a:latin typeface="Calibri"/>
                <a:cs typeface="Calibri"/>
              </a:rPr>
              <a:t>(Optional)</a:t>
            </a:r>
            <a:r>
              <a:rPr dirty="0" sz="3300" spc="145">
                <a:latin typeface="Calibri"/>
                <a:cs typeface="Calibri"/>
              </a:rPr>
              <a:t> </a:t>
            </a:r>
            <a:r>
              <a:rPr dirty="0" sz="3300" spc="-80">
                <a:latin typeface="Calibri"/>
                <a:cs typeface="Calibri"/>
              </a:rPr>
              <a:t>Use</a:t>
            </a:r>
            <a:r>
              <a:rPr dirty="0" sz="3300" spc="-195">
                <a:latin typeface="Calibri"/>
                <a:cs typeface="Calibri"/>
              </a:rPr>
              <a:t> </a:t>
            </a:r>
            <a:r>
              <a:rPr dirty="0" sz="3300" spc="-130">
                <a:latin typeface="Calibri"/>
                <a:cs typeface="Calibri"/>
              </a:rPr>
              <a:t>Prophet-</a:t>
            </a:r>
            <a:r>
              <a:rPr dirty="0" sz="3300" spc="-145">
                <a:latin typeface="Calibri"/>
                <a:cs typeface="Calibri"/>
              </a:rPr>
              <a:t>powered</a:t>
            </a:r>
            <a:r>
              <a:rPr dirty="0" sz="3300" spc="-150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forecasting </a:t>
            </a:r>
            <a:r>
              <a:rPr dirty="0" sz="3300" spc="-225">
                <a:latin typeface="Calibri"/>
                <a:cs typeface="Calibri"/>
              </a:rPr>
              <a:t>to</a:t>
            </a:r>
            <a:r>
              <a:rPr dirty="0" sz="3300" spc="-60">
                <a:latin typeface="Calibri"/>
                <a:cs typeface="Calibri"/>
              </a:rPr>
              <a:t> </a:t>
            </a:r>
            <a:r>
              <a:rPr dirty="0" sz="3300" spc="-114">
                <a:latin typeface="Calibri"/>
                <a:cs typeface="Calibri"/>
              </a:rPr>
              <a:t>anticipate</a:t>
            </a:r>
            <a:r>
              <a:rPr dirty="0" sz="3300" spc="-65">
                <a:latin typeface="Calibri"/>
                <a:cs typeface="Calibri"/>
              </a:rPr>
              <a:t> </a:t>
            </a:r>
            <a:r>
              <a:rPr dirty="0" sz="3300" spc="-165">
                <a:latin typeface="Calibri"/>
                <a:cs typeface="Calibri"/>
              </a:rPr>
              <a:t>future</a:t>
            </a:r>
            <a:r>
              <a:rPr dirty="0" sz="3300" spc="-65">
                <a:latin typeface="Calibri"/>
                <a:cs typeface="Calibri"/>
              </a:rPr>
              <a:t> </a:t>
            </a:r>
            <a:r>
              <a:rPr dirty="0" sz="3300" spc="-150">
                <a:latin typeface="Calibri"/>
                <a:cs typeface="Calibri"/>
              </a:rPr>
              <a:t>demand</a:t>
            </a:r>
            <a:r>
              <a:rPr dirty="0" sz="3300" spc="25">
                <a:latin typeface="Calibri"/>
                <a:cs typeface="Calibri"/>
              </a:rPr>
              <a:t> </a:t>
            </a:r>
            <a:r>
              <a:rPr dirty="0" sz="3300" spc="-190">
                <a:latin typeface="Calibri"/>
                <a:cs typeface="Calibri"/>
              </a:rPr>
              <a:t>and</a:t>
            </a:r>
            <a:r>
              <a:rPr dirty="0" sz="3300" spc="5">
                <a:latin typeface="Calibri"/>
                <a:cs typeface="Calibri"/>
              </a:rPr>
              <a:t> </a:t>
            </a:r>
            <a:r>
              <a:rPr dirty="0" sz="3300" spc="-140">
                <a:latin typeface="Calibri"/>
                <a:cs typeface="Calibri"/>
              </a:rPr>
              <a:t>prepare</a:t>
            </a:r>
            <a:r>
              <a:rPr dirty="0" sz="3300" spc="20">
                <a:latin typeface="Calibri"/>
                <a:cs typeface="Calibri"/>
              </a:rPr>
              <a:t> </a:t>
            </a:r>
            <a:r>
              <a:rPr dirty="0" sz="3300" spc="-35">
                <a:latin typeface="Calibri"/>
                <a:cs typeface="Calibri"/>
              </a:rPr>
              <a:t>your </a:t>
            </a:r>
            <a:r>
              <a:rPr dirty="0" sz="3300" spc="-155">
                <a:latin typeface="Calibri"/>
                <a:cs typeface="Calibri"/>
              </a:rPr>
              <a:t>inventory</a:t>
            </a:r>
            <a:r>
              <a:rPr dirty="0" sz="3300" spc="25">
                <a:latin typeface="Calibri"/>
                <a:cs typeface="Calibri"/>
              </a:rPr>
              <a:t> </a:t>
            </a:r>
            <a:r>
              <a:rPr dirty="0" sz="3300" spc="-35">
                <a:latin typeface="Calibri"/>
                <a:cs typeface="Calibri"/>
              </a:rPr>
              <a:t>accordingly.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337046" y="7185877"/>
            <a:ext cx="7023734" cy="204914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algn="ctr" marR="156845">
              <a:lnSpc>
                <a:spcPct val="100000"/>
              </a:lnSpc>
              <a:spcBef>
                <a:spcPts val="715"/>
              </a:spcBef>
            </a:pPr>
            <a:r>
              <a:rPr dirty="0" sz="3450" spc="65">
                <a:solidFill>
                  <a:srgbClr val="242424"/>
                </a:solidFill>
                <a:latin typeface="Arial MT"/>
                <a:cs typeface="Arial MT"/>
              </a:rPr>
              <a:t>Smart</a:t>
            </a:r>
            <a:r>
              <a:rPr dirty="0" sz="3450" spc="9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3450" spc="90">
                <a:solidFill>
                  <a:srgbClr val="212121"/>
                </a:solidFill>
                <a:latin typeface="Arial MT"/>
                <a:cs typeface="Arial MT"/>
              </a:rPr>
              <a:t>Alerts</a:t>
            </a:r>
            <a:endParaRPr sz="3450">
              <a:latin typeface="Arial MT"/>
              <a:cs typeface="Arial MT"/>
            </a:endParaRPr>
          </a:p>
          <a:p>
            <a:pPr algn="ctr" marL="12700" marR="5080">
              <a:lnSpc>
                <a:spcPts val="3300"/>
              </a:lnSpc>
              <a:spcBef>
                <a:spcPts val="1270"/>
              </a:spcBef>
            </a:pPr>
            <a:r>
              <a:rPr dirty="0" sz="3300" spc="-90">
                <a:latin typeface="Calibri"/>
                <a:cs typeface="Calibri"/>
              </a:rPr>
              <a:t>Receive</a:t>
            </a:r>
            <a:r>
              <a:rPr dirty="0" sz="3300" spc="-100">
                <a:latin typeface="Calibri"/>
                <a:cs typeface="Calibri"/>
              </a:rPr>
              <a:t> </a:t>
            </a:r>
            <a:r>
              <a:rPr dirty="0" sz="3300" spc="-135">
                <a:latin typeface="Calibri"/>
                <a:cs typeface="Calibri"/>
              </a:rPr>
              <a:t>automatic</a:t>
            </a:r>
            <a:r>
              <a:rPr dirty="0" sz="3300" spc="-50">
                <a:latin typeface="Calibri"/>
                <a:cs typeface="Calibri"/>
              </a:rPr>
              <a:t> </a:t>
            </a:r>
            <a:r>
              <a:rPr dirty="0" sz="3300" spc="-110">
                <a:latin typeface="Calibri"/>
                <a:cs typeface="Calibri"/>
              </a:rPr>
              <a:t>email</a:t>
            </a:r>
            <a:r>
              <a:rPr dirty="0" sz="3300" spc="-165">
                <a:latin typeface="Calibri"/>
                <a:cs typeface="Calibri"/>
              </a:rPr>
              <a:t> </a:t>
            </a:r>
            <a:r>
              <a:rPr dirty="0" sz="3300" spc="-45">
                <a:latin typeface="Calibri"/>
                <a:cs typeface="Calibri"/>
              </a:rPr>
              <a:t>alerts</a:t>
            </a:r>
            <a:r>
              <a:rPr dirty="0" sz="3300" spc="10">
                <a:latin typeface="Calibri"/>
                <a:cs typeface="Calibri"/>
              </a:rPr>
              <a:t> </a:t>
            </a:r>
            <a:r>
              <a:rPr dirty="0" sz="3300" spc="-180">
                <a:latin typeface="Calibri"/>
                <a:cs typeface="Calibri"/>
              </a:rPr>
              <a:t>for</a:t>
            </a:r>
            <a:r>
              <a:rPr dirty="0" sz="3300" spc="-160">
                <a:latin typeface="Calibri"/>
                <a:cs typeface="Calibri"/>
              </a:rPr>
              <a:t> </a:t>
            </a:r>
            <a:r>
              <a:rPr dirty="0" sz="3300" spc="-130">
                <a:latin typeface="Calibri"/>
                <a:cs typeface="Calibri"/>
              </a:rPr>
              <a:t>low-</a:t>
            </a:r>
            <a:r>
              <a:rPr dirty="0" sz="3300" spc="-40">
                <a:latin typeface="Calibri"/>
                <a:cs typeface="Calibri"/>
              </a:rPr>
              <a:t>stock </a:t>
            </a:r>
            <a:r>
              <a:rPr dirty="0" sz="3300" spc="-114">
                <a:latin typeface="Calibri"/>
                <a:cs typeface="Calibri"/>
              </a:rPr>
              <a:t>items,</a:t>
            </a:r>
            <a:r>
              <a:rPr dirty="0" sz="3300" spc="-75">
                <a:latin typeface="Calibri"/>
                <a:cs typeface="Calibri"/>
              </a:rPr>
              <a:t> </a:t>
            </a:r>
            <a:r>
              <a:rPr dirty="0" sz="3300" spc="-110">
                <a:latin typeface="Calibri"/>
                <a:cs typeface="Calibri"/>
              </a:rPr>
              <a:t>allowing</a:t>
            </a:r>
            <a:r>
              <a:rPr dirty="0" sz="3300" spc="-70">
                <a:latin typeface="Calibri"/>
                <a:cs typeface="Calibri"/>
              </a:rPr>
              <a:t> </a:t>
            </a:r>
            <a:r>
              <a:rPr dirty="0" sz="3300" spc="-220">
                <a:latin typeface="Calibri"/>
                <a:cs typeface="Calibri"/>
              </a:rPr>
              <a:t>you</a:t>
            </a:r>
            <a:r>
              <a:rPr dirty="0" sz="3300" spc="-10">
                <a:latin typeface="Calibri"/>
                <a:cs typeface="Calibri"/>
              </a:rPr>
              <a:t> </a:t>
            </a:r>
            <a:r>
              <a:rPr dirty="0" sz="3300" spc="-160">
                <a:latin typeface="Calibri"/>
                <a:cs typeface="Calibri"/>
              </a:rPr>
              <a:t>to</a:t>
            </a:r>
            <a:r>
              <a:rPr dirty="0" sz="3300" spc="-175">
                <a:latin typeface="Calibri"/>
                <a:cs typeface="Calibri"/>
              </a:rPr>
              <a:t> </a:t>
            </a:r>
            <a:r>
              <a:rPr dirty="0" sz="3300" spc="-30">
                <a:latin typeface="Calibri"/>
                <a:cs typeface="Calibri"/>
              </a:rPr>
              <a:t>act</a:t>
            </a:r>
            <a:r>
              <a:rPr dirty="0" sz="3300" spc="-60">
                <a:latin typeface="Calibri"/>
                <a:cs typeface="Calibri"/>
              </a:rPr>
              <a:t> </a:t>
            </a:r>
            <a:r>
              <a:rPr dirty="0" sz="3300" spc="-160">
                <a:latin typeface="Calibri"/>
                <a:cs typeface="Calibri"/>
              </a:rPr>
              <a:t>before</a:t>
            </a:r>
            <a:r>
              <a:rPr dirty="0" sz="3300" spc="-10">
                <a:latin typeface="Calibri"/>
                <a:cs typeface="Calibri"/>
              </a:rPr>
              <a:t> </a:t>
            </a:r>
            <a:r>
              <a:rPr dirty="0" sz="3300" spc="-195">
                <a:latin typeface="Calibri"/>
                <a:cs typeface="Calibri"/>
              </a:rPr>
              <a:t>you</a:t>
            </a:r>
            <a:r>
              <a:rPr dirty="0" sz="3300" spc="-105">
                <a:latin typeface="Calibri"/>
                <a:cs typeface="Calibri"/>
              </a:rPr>
              <a:t> </a:t>
            </a:r>
            <a:r>
              <a:rPr dirty="0" sz="3300" spc="-40">
                <a:latin typeface="Calibri"/>
                <a:cs typeface="Calibri"/>
              </a:rPr>
              <a:t>lose</a:t>
            </a:r>
            <a:r>
              <a:rPr dirty="0" sz="3300" spc="-100">
                <a:latin typeface="Calibri"/>
                <a:cs typeface="Calibri"/>
              </a:rPr>
              <a:t> </a:t>
            </a:r>
            <a:r>
              <a:rPr dirty="0" sz="3300" spc="60">
                <a:latin typeface="Calibri"/>
                <a:cs typeface="Calibri"/>
              </a:rPr>
              <a:t>a </a:t>
            </a:r>
            <a:r>
              <a:rPr dirty="0" sz="3300" spc="-10">
                <a:latin typeface="Calibri"/>
                <a:cs typeface="Calibri"/>
              </a:rPr>
              <a:t>sale.</a:t>
            </a:r>
            <a:endParaRPr sz="3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9900" y="2057400"/>
            <a:ext cx="3835400" cy="4572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9287" rIns="0" bIns="0" rtlCol="0" vert="horz">
            <a:spAutoFit/>
          </a:bodyPr>
          <a:lstStyle/>
          <a:p>
            <a:pPr marL="2570480">
              <a:lnSpc>
                <a:spcPct val="100000"/>
              </a:lnSpc>
              <a:spcBef>
                <a:spcPts val="130"/>
              </a:spcBef>
            </a:pPr>
            <a:r>
              <a:rPr dirty="0" sz="6150" spc="-120">
                <a:solidFill>
                  <a:srgbClr val="1F1F1F"/>
                </a:solidFill>
              </a:rPr>
              <a:t>Designed</a:t>
            </a:r>
            <a:r>
              <a:rPr dirty="0" sz="6150" spc="-310">
                <a:solidFill>
                  <a:srgbClr val="1F1F1F"/>
                </a:solidFill>
              </a:rPr>
              <a:t> </a:t>
            </a:r>
            <a:r>
              <a:rPr dirty="0" sz="6150">
                <a:solidFill>
                  <a:srgbClr val="282828"/>
                </a:solidFill>
              </a:rPr>
              <a:t>for</a:t>
            </a:r>
            <a:r>
              <a:rPr dirty="0" sz="6150" spc="-430">
                <a:solidFill>
                  <a:srgbClr val="282828"/>
                </a:solidFill>
              </a:rPr>
              <a:t> </a:t>
            </a:r>
            <a:r>
              <a:rPr dirty="0" sz="6150" spc="-10"/>
              <a:t>Trust</a:t>
            </a:r>
            <a:r>
              <a:rPr dirty="0" sz="6150" spc="-330"/>
              <a:t> </a:t>
            </a:r>
            <a:r>
              <a:rPr dirty="0" sz="6150" spc="-114">
                <a:solidFill>
                  <a:srgbClr val="262626"/>
                </a:solidFill>
              </a:rPr>
              <a:t>and</a:t>
            </a:r>
            <a:r>
              <a:rPr dirty="0" sz="6150" spc="-695">
                <a:solidFill>
                  <a:srgbClr val="262626"/>
                </a:solidFill>
              </a:rPr>
              <a:t> </a:t>
            </a:r>
            <a:r>
              <a:rPr dirty="0" sz="6150" spc="-10">
                <a:solidFill>
                  <a:srgbClr val="232323"/>
                </a:solidFill>
              </a:rPr>
              <a:t>Control</a:t>
            </a:r>
            <a:endParaRPr sz="6150"/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85"/>
              </a:lnSpc>
            </a:pPr>
            <a:r>
              <a:rPr dirty="0">
                <a:latin typeface="Arial MT"/>
                <a:cs typeface="Arial MT"/>
              </a:rPr>
              <a:t>G</a:t>
            </a:r>
            <a:r>
              <a:rPr dirty="0" spc="270">
                <a:latin typeface="Arial MT"/>
                <a:cs typeface="Arial MT"/>
              </a:rPr>
              <a:t> </a:t>
            </a:r>
            <a:r>
              <a:rPr dirty="0" spc="-90">
                <a:latin typeface="Arial MT"/>
                <a:cs typeface="Arial MT"/>
              </a:rPr>
              <a:t>NotebookLM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333032" y="6832656"/>
            <a:ext cx="14791690" cy="2577465"/>
          </a:xfrm>
          <a:prstGeom prst="rect">
            <a:avLst/>
          </a:prstGeom>
        </p:spPr>
        <p:txBody>
          <a:bodyPr wrap="square" lIns="0" tIns="292100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2300"/>
              </a:spcBef>
            </a:pPr>
            <a:r>
              <a:rPr dirty="0" sz="400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dirty="0" sz="4000" spc="-18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4000">
                <a:solidFill>
                  <a:srgbClr val="232323"/>
                </a:solidFill>
                <a:latin typeface="Arial MT"/>
                <a:cs typeface="Arial MT"/>
              </a:rPr>
              <a:t>’Safe</a:t>
            </a:r>
            <a:r>
              <a:rPr dirty="0" sz="4000" spc="-8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4000" spc="90">
                <a:solidFill>
                  <a:srgbClr val="212121"/>
                </a:solidFill>
                <a:latin typeface="Arial MT"/>
                <a:cs typeface="Arial MT"/>
              </a:rPr>
              <a:t>Agent’</a:t>
            </a:r>
            <a:r>
              <a:rPr dirty="0" sz="4000" spc="-229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4000" spc="85">
                <a:solidFill>
                  <a:srgbClr val="1C1C1C"/>
                </a:solidFill>
                <a:latin typeface="Arial MT"/>
                <a:cs typeface="Arial MT"/>
              </a:rPr>
              <a:t>Principle</a:t>
            </a:r>
            <a:endParaRPr sz="4000">
              <a:latin typeface="Arial MT"/>
              <a:cs typeface="Arial MT"/>
            </a:endParaRPr>
          </a:p>
          <a:p>
            <a:pPr algn="ctr" marL="12065" marR="5080">
              <a:lnSpc>
                <a:spcPct val="85100"/>
              </a:lnSpc>
              <a:spcBef>
                <a:spcPts val="2515"/>
              </a:spcBef>
            </a:pPr>
            <a:r>
              <a:rPr dirty="0" sz="3450" spc="-250">
                <a:latin typeface="Calibri"/>
                <a:cs typeface="Calibri"/>
              </a:rPr>
              <a:t>We</a:t>
            </a:r>
            <a:r>
              <a:rPr dirty="0" sz="3450" spc="30">
                <a:latin typeface="Calibri"/>
                <a:cs typeface="Calibri"/>
              </a:rPr>
              <a:t> </a:t>
            </a:r>
            <a:r>
              <a:rPr dirty="0" sz="3450" spc="-35">
                <a:latin typeface="Calibri"/>
                <a:cs typeface="Calibri"/>
              </a:rPr>
              <a:t>provide</a:t>
            </a:r>
            <a:r>
              <a:rPr dirty="0" sz="3450" spc="-150">
                <a:latin typeface="Calibri"/>
                <a:cs typeface="Calibri"/>
              </a:rPr>
              <a:t> </a:t>
            </a:r>
            <a:r>
              <a:rPr dirty="0" sz="3450" spc="-45">
                <a:latin typeface="Calibri"/>
                <a:cs typeface="Calibri"/>
              </a:rPr>
              <a:t>the</a:t>
            </a:r>
            <a:r>
              <a:rPr dirty="0" sz="3450" spc="-150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insight;</a:t>
            </a:r>
            <a:r>
              <a:rPr dirty="0" sz="3450" spc="-30">
                <a:latin typeface="Calibri"/>
                <a:cs typeface="Calibri"/>
              </a:rPr>
              <a:t> </a:t>
            </a:r>
            <a:r>
              <a:rPr dirty="0" sz="3450" spc="-70">
                <a:latin typeface="Calibri"/>
                <a:cs typeface="Calibri"/>
              </a:rPr>
              <a:t>you</a:t>
            </a:r>
            <a:r>
              <a:rPr dirty="0" sz="3450" spc="-9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make</a:t>
            </a:r>
            <a:r>
              <a:rPr dirty="0" sz="3450" spc="-60">
                <a:latin typeface="Calibri"/>
                <a:cs typeface="Calibri"/>
              </a:rPr>
              <a:t> </a:t>
            </a:r>
            <a:r>
              <a:rPr dirty="0" sz="3450" spc="-55">
                <a:latin typeface="Calibri"/>
                <a:cs typeface="Calibri"/>
              </a:rPr>
              <a:t>the</a:t>
            </a:r>
            <a:r>
              <a:rPr dirty="0" sz="3450" spc="-110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call.</a:t>
            </a:r>
            <a:r>
              <a:rPr dirty="0" sz="3450" spc="-12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RetailSense</a:t>
            </a:r>
            <a:r>
              <a:rPr dirty="0" sz="3450" spc="-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AI</a:t>
            </a:r>
            <a:r>
              <a:rPr dirty="0" sz="3450" spc="22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is</a:t>
            </a:r>
            <a:r>
              <a:rPr dirty="0" sz="3450" spc="-15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designed</a:t>
            </a:r>
            <a:r>
              <a:rPr dirty="0" sz="3450" spc="5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to</a:t>
            </a:r>
            <a:r>
              <a:rPr dirty="0" sz="3450" spc="-110">
                <a:latin typeface="Calibri"/>
                <a:cs typeface="Calibri"/>
              </a:rPr>
              <a:t> </a:t>
            </a:r>
            <a:r>
              <a:rPr dirty="0" sz="3450" spc="-30">
                <a:latin typeface="Calibri"/>
                <a:cs typeface="Calibri"/>
              </a:rPr>
              <a:t>support,</a:t>
            </a:r>
            <a:r>
              <a:rPr dirty="0" sz="3450" spc="60">
                <a:latin typeface="Calibri"/>
                <a:cs typeface="Calibri"/>
              </a:rPr>
              <a:t> </a:t>
            </a:r>
            <a:r>
              <a:rPr dirty="0" sz="3450" spc="-25">
                <a:latin typeface="Calibri"/>
                <a:cs typeface="Calibri"/>
              </a:rPr>
              <a:t>not replace,</a:t>
            </a:r>
            <a:r>
              <a:rPr dirty="0" sz="3450" spc="90">
                <a:latin typeface="Calibri"/>
                <a:cs typeface="Calibri"/>
              </a:rPr>
              <a:t> </a:t>
            </a:r>
            <a:r>
              <a:rPr dirty="0" sz="3450" spc="-50">
                <a:latin typeface="Calibri"/>
                <a:cs typeface="Calibri"/>
              </a:rPr>
              <a:t>your</a:t>
            </a:r>
            <a:r>
              <a:rPr dirty="0" sz="3450" spc="-80">
                <a:latin typeface="Calibri"/>
                <a:cs typeface="Calibri"/>
              </a:rPr>
              <a:t> </a:t>
            </a:r>
            <a:r>
              <a:rPr dirty="0" sz="3450" spc="-20">
                <a:latin typeface="Calibri"/>
                <a:cs typeface="Calibri"/>
              </a:rPr>
              <a:t>expertise.</a:t>
            </a:r>
            <a:r>
              <a:rPr dirty="0" sz="3450" spc="2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Critical</a:t>
            </a:r>
            <a:r>
              <a:rPr dirty="0" sz="3450" spc="-18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actions,</a:t>
            </a:r>
            <a:r>
              <a:rPr dirty="0" sz="3450" spc="90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such</a:t>
            </a:r>
            <a:r>
              <a:rPr dirty="0" sz="3450" spc="-65">
                <a:latin typeface="Calibri"/>
                <a:cs typeface="Calibri"/>
              </a:rPr>
              <a:t> </a:t>
            </a:r>
            <a:r>
              <a:rPr dirty="0" sz="3450" spc="55">
                <a:latin typeface="Calibri"/>
                <a:cs typeface="Calibri"/>
              </a:rPr>
              <a:t>as</a:t>
            </a:r>
            <a:r>
              <a:rPr dirty="0" sz="3450" spc="-110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placing</a:t>
            </a:r>
            <a:r>
              <a:rPr dirty="0" sz="3450" spc="-150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a</a:t>
            </a:r>
            <a:r>
              <a:rPr dirty="0" sz="3450" spc="-130">
                <a:latin typeface="Calibri"/>
                <a:cs typeface="Calibri"/>
              </a:rPr>
              <a:t> </a:t>
            </a:r>
            <a:r>
              <a:rPr dirty="0" sz="3450" spc="-60">
                <a:latin typeface="Calibri"/>
                <a:cs typeface="Calibri"/>
              </a:rPr>
              <a:t>new</a:t>
            </a:r>
            <a:r>
              <a:rPr dirty="0" sz="3450" spc="-7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stock</a:t>
            </a:r>
            <a:r>
              <a:rPr dirty="0" sz="3450" spc="-55">
                <a:latin typeface="Calibri"/>
                <a:cs typeface="Calibri"/>
              </a:rPr>
              <a:t> </a:t>
            </a:r>
            <a:r>
              <a:rPr dirty="0" sz="3450" spc="-100">
                <a:latin typeface="Calibri"/>
                <a:cs typeface="Calibri"/>
              </a:rPr>
              <a:t>order,</a:t>
            </a:r>
            <a:r>
              <a:rPr dirty="0" sz="3450" spc="-45">
                <a:latin typeface="Calibri"/>
                <a:cs typeface="Calibri"/>
              </a:rPr>
              <a:t> </a:t>
            </a:r>
            <a:r>
              <a:rPr dirty="0" sz="3450" spc="-10">
                <a:latin typeface="Calibri"/>
                <a:cs typeface="Calibri"/>
              </a:rPr>
              <a:t>always </a:t>
            </a:r>
            <a:r>
              <a:rPr dirty="0" sz="3450" spc="-40">
                <a:latin typeface="Calibri"/>
                <a:cs typeface="Calibri"/>
              </a:rPr>
              <a:t>require</a:t>
            </a:r>
            <a:r>
              <a:rPr dirty="0" sz="3450" spc="-155">
                <a:latin typeface="Calibri"/>
                <a:cs typeface="Calibri"/>
              </a:rPr>
              <a:t> </a:t>
            </a:r>
            <a:r>
              <a:rPr dirty="0" sz="3450" spc="-80">
                <a:latin typeface="Calibri"/>
                <a:cs typeface="Calibri"/>
              </a:rPr>
              <a:t>your</a:t>
            </a:r>
            <a:r>
              <a:rPr dirty="0" sz="3450" spc="-114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explicit</a:t>
            </a:r>
            <a:r>
              <a:rPr dirty="0" sz="3450" spc="-4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user</a:t>
            </a:r>
            <a:r>
              <a:rPr dirty="0" sz="3450" spc="-130">
                <a:latin typeface="Calibri"/>
                <a:cs typeface="Calibri"/>
              </a:rPr>
              <a:t> </a:t>
            </a:r>
            <a:r>
              <a:rPr dirty="0" sz="3450" spc="-30">
                <a:latin typeface="Calibri"/>
                <a:cs typeface="Calibri"/>
              </a:rPr>
              <a:t>approval.</a:t>
            </a:r>
            <a:r>
              <a:rPr dirty="0" sz="3450" spc="20">
                <a:latin typeface="Calibri"/>
                <a:cs typeface="Calibri"/>
              </a:rPr>
              <a:t> </a:t>
            </a:r>
            <a:r>
              <a:rPr dirty="0" sz="3450" spc="-80">
                <a:latin typeface="Calibri"/>
                <a:cs typeface="Calibri"/>
              </a:rPr>
              <a:t>You</a:t>
            </a:r>
            <a:r>
              <a:rPr dirty="0" sz="3450" spc="-114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are</a:t>
            </a:r>
            <a:r>
              <a:rPr dirty="0" sz="3450" spc="-19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always</a:t>
            </a:r>
            <a:r>
              <a:rPr dirty="0" sz="3450" spc="-5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in</a:t>
            </a:r>
            <a:r>
              <a:rPr dirty="0" sz="3450" spc="-165">
                <a:latin typeface="Calibri"/>
                <a:cs typeface="Calibri"/>
              </a:rPr>
              <a:t> </a:t>
            </a:r>
            <a:r>
              <a:rPr dirty="0" sz="3450" spc="-10">
                <a:latin typeface="Calibri"/>
                <a:cs typeface="Calibri"/>
              </a:rPr>
              <a:t>command.</a:t>
            </a:r>
            <a:endParaRPr sz="3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200"/>
            <a:ext cx="7975600" cy="9677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93200" y="0"/>
            <a:ext cx="8382000" cy="9753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6325" y="2319866"/>
            <a:ext cx="6586220" cy="1726564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algn="ctr" marL="1033144">
              <a:lnSpc>
                <a:spcPts val="6530"/>
              </a:lnSpc>
              <a:spcBef>
                <a:spcPts val="130"/>
              </a:spcBef>
              <a:tabLst>
                <a:tab pos="2411095" algn="l"/>
              </a:tabLst>
            </a:pPr>
            <a:r>
              <a:rPr dirty="0" sz="5800" spc="-380">
                <a:solidFill>
                  <a:srgbClr val="262626"/>
                </a:solidFill>
                <a:latin typeface="Calibri"/>
                <a:cs typeface="Calibri"/>
              </a:rPr>
              <a:t>The</a:t>
            </a:r>
            <a:r>
              <a:rPr dirty="0" sz="5800">
                <a:solidFill>
                  <a:srgbClr val="262626"/>
                </a:solidFill>
                <a:latin typeface="Calibri"/>
                <a:cs typeface="Calibri"/>
              </a:rPr>
              <a:t>	</a:t>
            </a:r>
            <a:r>
              <a:rPr dirty="0" sz="5800" spc="245">
                <a:solidFill>
                  <a:srgbClr val="232323"/>
                </a:solidFill>
                <a:latin typeface="Calibri"/>
                <a:cs typeface="Calibri"/>
              </a:rPr>
              <a:t>New</a:t>
            </a:r>
            <a:r>
              <a:rPr dirty="0" sz="5800" spc="-20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5800" spc="270">
                <a:solidFill>
                  <a:srgbClr val="232323"/>
                </a:solidFill>
                <a:latin typeface="Calibri"/>
                <a:cs typeface="Calibri"/>
              </a:rPr>
              <a:t>Reality:</a:t>
            </a:r>
            <a:endParaRPr sz="5800">
              <a:latin typeface="Calibri"/>
              <a:cs typeface="Calibri"/>
            </a:endParaRPr>
          </a:p>
          <a:p>
            <a:pPr algn="ctr" marR="1370965">
              <a:lnSpc>
                <a:spcPts val="6830"/>
              </a:lnSpc>
              <a:tabLst>
                <a:tab pos="1012190" algn="l"/>
              </a:tabLst>
            </a:pPr>
            <a:r>
              <a:rPr dirty="0" sz="6050" spc="-25">
                <a:solidFill>
                  <a:srgbClr val="9E836D"/>
                </a:solidFill>
                <a:latin typeface="Calibri"/>
                <a:cs typeface="Calibri"/>
              </a:rPr>
              <a:t>_›</a:t>
            </a:r>
            <a:r>
              <a:rPr dirty="0" sz="6050">
                <a:solidFill>
                  <a:srgbClr val="9E836D"/>
                </a:solidFill>
                <a:latin typeface="Calibri"/>
                <a:cs typeface="Calibri"/>
              </a:rPr>
              <a:t>	</a:t>
            </a:r>
            <a:r>
              <a:rPr dirty="0" sz="6050" spc="125">
                <a:latin typeface="Calibri"/>
                <a:cs typeface="Calibri"/>
              </a:rPr>
              <a:t>Data-</a:t>
            </a:r>
            <a:r>
              <a:rPr dirty="0" sz="6050" spc="110">
                <a:latin typeface="Calibri"/>
                <a:cs typeface="Calibri"/>
              </a:rPr>
              <a:t>Driven,</a:t>
            </a:r>
            <a:endParaRPr sz="60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11721" y="3597221"/>
            <a:ext cx="7084059" cy="3707765"/>
          </a:xfrm>
          <a:prstGeom prst="rect">
            <a:avLst/>
          </a:prstGeom>
        </p:spPr>
        <p:txBody>
          <a:bodyPr wrap="square" lIns="0" tIns="358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25"/>
              </a:spcBef>
            </a:pPr>
            <a:r>
              <a:rPr dirty="0" sz="5750" spc="325">
                <a:solidFill>
                  <a:srgbClr val="212121"/>
                </a:solidFill>
                <a:latin typeface="Calibri"/>
                <a:cs typeface="Calibri"/>
              </a:rPr>
              <a:t>Efiortless,</a:t>
            </a:r>
            <a:r>
              <a:rPr dirty="0" sz="5750" spc="28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5750" spc="250">
                <a:solidFill>
                  <a:srgbClr val="232323"/>
                </a:solidFill>
                <a:latin typeface="Calibri"/>
                <a:cs typeface="Calibri"/>
              </a:rPr>
              <a:t>Profitable.</a:t>
            </a:r>
            <a:endParaRPr sz="5750">
              <a:latin typeface="Calibri"/>
              <a:cs typeface="Calibri"/>
            </a:endParaRPr>
          </a:p>
          <a:p>
            <a:pPr marL="17780" marR="261620" indent="3175">
              <a:lnSpc>
                <a:spcPct val="92000"/>
              </a:lnSpc>
              <a:spcBef>
                <a:spcPts val="1805"/>
              </a:spcBef>
              <a:tabLst>
                <a:tab pos="2326005" algn="l"/>
              </a:tabLst>
            </a:pPr>
            <a:r>
              <a:rPr dirty="0" sz="3200">
                <a:latin typeface="Calibri"/>
                <a:cs typeface="Calibri"/>
              </a:rPr>
              <a:t>Shift</a:t>
            </a:r>
            <a:r>
              <a:rPr dirty="0" sz="3200" spc="-130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your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focus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75">
                <a:latin typeface="Calibri"/>
                <a:cs typeface="Calibri"/>
              </a:rPr>
              <a:t>from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managing </a:t>
            </a:r>
            <a:r>
              <a:rPr dirty="0" sz="3100" spc="-10">
                <a:latin typeface="Calibri"/>
                <a:cs typeface="Calibri"/>
              </a:rPr>
              <a:t>spreadsheets</a:t>
            </a:r>
            <a:r>
              <a:rPr dirty="0" sz="3100">
                <a:latin typeface="Calibri"/>
                <a:cs typeface="Calibri"/>
              </a:rPr>
              <a:t>	to</a:t>
            </a:r>
            <a:r>
              <a:rPr dirty="0" sz="3100" spc="-145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growing</a:t>
            </a:r>
            <a:r>
              <a:rPr dirty="0" sz="3100" spc="-45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your</a:t>
            </a:r>
            <a:r>
              <a:rPr dirty="0" sz="3100" spc="-95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business. </a:t>
            </a:r>
            <a:r>
              <a:rPr dirty="0" sz="3200" spc="-114">
                <a:latin typeface="Calibri"/>
                <a:cs typeface="Calibri"/>
              </a:rPr>
              <a:t>With</a:t>
            </a:r>
            <a:r>
              <a:rPr dirty="0" sz="3200" spc="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RetailSense</a:t>
            </a:r>
            <a:r>
              <a:rPr dirty="0" sz="3200" spc="245">
                <a:latin typeface="Calibri"/>
                <a:cs typeface="Calibri"/>
              </a:rPr>
              <a:t> </a:t>
            </a:r>
            <a:r>
              <a:rPr dirty="0" sz="3200" spc="75">
                <a:latin typeface="Calibri"/>
                <a:cs typeface="Calibri"/>
              </a:rPr>
              <a:t>AI,</a:t>
            </a:r>
            <a:r>
              <a:rPr dirty="0" sz="3200" spc="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you</a:t>
            </a:r>
            <a:r>
              <a:rPr dirty="0" sz="3200" spc="85">
                <a:latin typeface="Calibri"/>
                <a:cs typeface="Calibri"/>
              </a:rPr>
              <a:t> </a:t>
            </a:r>
            <a:r>
              <a:rPr dirty="0" sz="3200" spc="75">
                <a:latin typeface="Calibri"/>
                <a:cs typeface="Calibri"/>
              </a:rPr>
              <a:t>gain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50">
                <a:latin typeface="Calibri"/>
                <a:cs typeface="Calibri"/>
              </a:rPr>
              <a:t>the</a:t>
            </a:r>
            <a:r>
              <a:rPr dirty="0" sz="3200" spc="-13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ctarity </a:t>
            </a:r>
            <a:r>
              <a:rPr dirty="0" sz="3100" spc="135">
                <a:latin typeface="Calibri"/>
                <a:cs typeface="Calibri"/>
              </a:rPr>
              <a:t>and</a:t>
            </a:r>
            <a:r>
              <a:rPr dirty="0" sz="3100">
                <a:latin typeface="Calibri"/>
                <a:cs typeface="Calibri"/>
              </a:rPr>
              <a:t> </a:t>
            </a:r>
            <a:r>
              <a:rPr dirty="0" sz="3100" spc="100">
                <a:latin typeface="Calibri"/>
                <a:cs typeface="Calibri"/>
              </a:rPr>
              <a:t>efficiency</a:t>
            </a:r>
            <a:r>
              <a:rPr dirty="0" sz="3100" spc="185">
                <a:latin typeface="Calibri"/>
                <a:cs typeface="Calibri"/>
              </a:rPr>
              <a:t> </a:t>
            </a:r>
            <a:r>
              <a:rPr dirty="0" sz="3100" spc="75">
                <a:latin typeface="Calibri"/>
                <a:cs typeface="Calibri"/>
              </a:rPr>
              <a:t>to</a:t>
            </a:r>
            <a:r>
              <a:rPr dirty="0" sz="3100" spc="-130">
                <a:latin typeface="Calibri"/>
                <a:cs typeface="Calibri"/>
              </a:rPr>
              <a:t> </a:t>
            </a:r>
            <a:r>
              <a:rPr dirty="0" sz="3100" spc="125">
                <a:latin typeface="Calibri"/>
                <a:cs typeface="Calibri"/>
              </a:rPr>
              <a:t>run</a:t>
            </a:r>
            <a:r>
              <a:rPr dirty="0" sz="3100" spc="-114">
                <a:latin typeface="Calibri"/>
                <a:cs typeface="Calibri"/>
              </a:rPr>
              <a:t> </a:t>
            </a:r>
            <a:r>
              <a:rPr dirty="0" sz="3100" spc="114">
                <a:latin typeface="Calibri"/>
                <a:cs typeface="Calibri"/>
              </a:rPr>
              <a:t>a</a:t>
            </a:r>
            <a:r>
              <a:rPr dirty="0" sz="3100" spc="110">
                <a:latin typeface="Calibri"/>
                <a:cs typeface="Calibri"/>
              </a:rPr>
              <a:t> </a:t>
            </a:r>
            <a:r>
              <a:rPr dirty="0" sz="3100" spc="85">
                <a:latin typeface="Calibri"/>
                <a:cs typeface="Calibri"/>
              </a:rPr>
              <a:t>smarter,</a:t>
            </a:r>
            <a:r>
              <a:rPr dirty="0" sz="3100" spc="95">
                <a:latin typeface="Calibri"/>
                <a:cs typeface="Calibri"/>
              </a:rPr>
              <a:t> </a:t>
            </a:r>
            <a:r>
              <a:rPr dirty="0" sz="3100" spc="40">
                <a:latin typeface="Calibri"/>
                <a:cs typeface="Calibri"/>
              </a:rPr>
              <a:t>more </a:t>
            </a:r>
            <a:r>
              <a:rPr dirty="0" sz="3300" spc="50">
                <a:latin typeface="Calibri"/>
                <a:cs typeface="Calibri"/>
              </a:rPr>
              <a:t>successfut</a:t>
            </a:r>
            <a:r>
              <a:rPr dirty="0" sz="3300" spc="30">
                <a:latin typeface="Calibri"/>
                <a:cs typeface="Calibri"/>
              </a:rPr>
              <a:t> </a:t>
            </a:r>
            <a:r>
              <a:rPr dirty="0" sz="3300" spc="75">
                <a:latin typeface="Calibri"/>
                <a:cs typeface="Calibri"/>
              </a:rPr>
              <a:t>retail</a:t>
            </a:r>
            <a:r>
              <a:rPr dirty="0" sz="3300" spc="-21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operation.</a:t>
            </a:r>
            <a:endParaRPr sz="3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9100" y="5346700"/>
            <a:ext cx="1409700" cy="889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0338" y="695324"/>
            <a:ext cx="12517755" cy="12636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100" spc="-10">
                <a:solidFill>
                  <a:srgbClr val="262626"/>
                </a:solidFill>
                <a:latin typeface="Calibri"/>
                <a:cs typeface="Calibri"/>
              </a:rPr>
              <a:t>The</a:t>
            </a:r>
            <a:r>
              <a:rPr dirty="0" sz="8100" spc="-5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8100" spc="130">
                <a:solidFill>
                  <a:srgbClr val="262626"/>
                </a:solidFill>
                <a:latin typeface="Calibri"/>
                <a:cs typeface="Calibri"/>
              </a:rPr>
              <a:t>RetailSense</a:t>
            </a:r>
            <a:r>
              <a:rPr dirty="0" sz="8100" spc="2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8100" spc="-45">
                <a:solidFill>
                  <a:srgbClr val="282828"/>
                </a:solidFill>
                <a:latin typeface="Calibri"/>
                <a:cs typeface="Calibri"/>
              </a:rPr>
              <a:t>AI</a:t>
            </a:r>
            <a:r>
              <a:rPr dirty="0" sz="8100" spc="-484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100" spc="-10">
                <a:solidFill>
                  <a:srgbClr val="282828"/>
                </a:solidFill>
                <a:latin typeface="Calibri"/>
                <a:cs typeface="Calibri"/>
              </a:rPr>
              <a:t>Advantage</a:t>
            </a:r>
            <a:endParaRPr sz="81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233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dirty="0" spc="65"/>
              <a:t>Before</a:t>
            </a:r>
          </a:p>
          <a:p>
            <a:pPr marL="593725" indent="-333375">
              <a:lnSpc>
                <a:spcPts val="4020"/>
              </a:lnSpc>
              <a:spcBef>
                <a:spcPts val="1350"/>
              </a:spcBef>
              <a:buClr>
                <a:srgbClr val="1F1F1F"/>
              </a:buClr>
              <a:buChar char="•"/>
              <a:tabLst>
                <a:tab pos="593725" algn="l"/>
              </a:tabLst>
            </a:pPr>
            <a:r>
              <a:rPr dirty="0" sz="3450" spc="-65">
                <a:solidFill>
                  <a:srgbClr val="000000"/>
                </a:solidFill>
              </a:rPr>
              <a:t>Inventory</a:t>
            </a:r>
            <a:r>
              <a:rPr dirty="0" sz="3450" spc="-140">
                <a:solidFill>
                  <a:srgbClr val="000000"/>
                </a:solidFill>
              </a:rPr>
              <a:t> </a:t>
            </a:r>
            <a:r>
              <a:rPr dirty="0" sz="3450" spc="-50">
                <a:solidFill>
                  <a:srgbClr val="000000"/>
                </a:solidFill>
              </a:rPr>
              <a:t>Nanagement:</a:t>
            </a:r>
            <a:r>
              <a:rPr dirty="0" sz="3450" spc="30">
                <a:solidFill>
                  <a:srgbClr val="000000"/>
                </a:solidFill>
              </a:rPr>
              <a:t> </a:t>
            </a:r>
            <a:r>
              <a:rPr dirty="0" sz="3450" spc="-25">
                <a:solidFill>
                  <a:srgbClr val="000000"/>
                </a:solidFill>
              </a:rPr>
              <a:t>Guesswork</a:t>
            </a:r>
            <a:endParaRPr sz="3450"/>
          </a:p>
          <a:p>
            <a:pPr marL="598805">
              <a:lnSpc>
                <a:spcPts val="4060"/>
              </a:lnSpc>
            </a:pPr>
            <a:r>
              <a:rPr dirty="0" sz="3550" spc="-210">
                <a:solidFill>
                  <a:srgbClr val="000000"/>
                </a:solidFill>
              </a:rPr>
              <a:t>and</a:t>
            </a:r>
            <a:r>
              <a:rPr dirty="0" sz="3550" spc="-10">
                <a:solidFill>
                  <a:srgbClr val="000000"/>
                </a:solidFill>
              </a:rPr>
              <a:t> </a:t>
            </a:r>
            <a:r>
              <a:rPr dirty="0" sz="3550" spc="-155">
                <a:solidFill>
                  <a:srgbClr val="000000"/>
                </a:solidFill>
              </a:rPr>
              <a:t>stock-</a:t>
            </a:r>
            <a:r>
              <a:rPr dirty="0" sz="3550" spc="-10">
                <a:solidFill>
                  <a:srgbClr val="000000"/>
                </a:solidFill>
              </a:rPr>
              <a:t>outs.</a:t>
            </a:r>
            <a:endParaRPr sz="3550"/>
          </a:p>
          <a:p>
            <a:pPr marL="602615" indent="-342265">
              <a:lnSpc>
                <a:spcPts val="4015"/>
              </a:lnSpc>
              <a:buClr>
                <a:srgbClr val="1C1C1C"/>
              </a:buClr>
              <a:buChar char="•"/>
              <a:tabLst>
                <a:tab pos="602615" algn="l"/>
              </a:tabLst>
            </a:pPr>
            <a:r>
              <a:rPr dirty="0" sz="3450">
                <a:solidFill>
                  <a:srgbClr val="000000"/>
                </a:solidFill>
              </a:rPr>
              <a:t>Sales</a:t>
            </a:r>
            <a:r>
              <a:rPr dirty="0" sz="3450" spc="-114">
                <a:solidFill>
                  <a:srgbClr val="000000"/>
                </a:solidFill>
              </a:rPr>
              <a:t> </a:t>
            </a:r>
            <a:r>
              <a:rPr dirty="0" sz="3450">
                <a:solidFill>
                  <a:srgbClr val="000000"/>
                </a:solidFill>
              </a:rPr>
              <a:t>Analysis:</a:t>
            </a:r>
            <a:r>
              <a:rPr dirty="0" sz="3450" spc="5">
                <a:solidFill>
                  <a:srgbClr val="000000"/>
                </a:solidFill>
              </a:rPr>
              <a:t> </a:t>
            </a:r>
            <a:r>
              <a:rPr dirty="0" sz="3450" spc="-114">
                <a:solidFill>
                  <a:srgbClr val="000000"/>
                </a:solidFill>
              </a:rPr>
              <a:t>Hours</a:t>
            </a:r>
            <a:r>
              <a:rPr dirty="0" sz="3450" spc="15">
                <a:solidFill>
                  <a:srgbClr val="000000"/>
                </a:solidFill>
              </a:rPr>
              <a:t> </a:t>
            </a:r>
            <a:r>
              <a:rPr dirty="0" sz="3450" spc="-220">
                <a:solidFill>
                  <a:srgbClr val="000000"/>
                </a:solidFill>
              </a:rPr>
              <a:t>of</a:t>
            </a:r>
            <a:r>
              <a:rPr dirty="0" sz="3450" spc="-45">
                <a:solidFill>
                  <a:srgbClr val="000000"/>
                </a:solidFill>
              </a:rPr>
              <a:t> </a:t>
            </a:r>
            <a:r>
              <a:rPr dirty="0" sz="3450" spc="-10">
                <a:solidFill>
                  <a:srgbClr val="000000"/>
                </a:solidFill>
              </a:rPr>
              <a:t>manual</a:t>
            </a:r>
            <a:endParaRPr sz="3450"/>
          </a:p>
          <a:p>
            <a:pPr marL="601980">
              <a:lnSpc>
                <a:spcPts val="3970"/>
              </a:lnSpc>
            </a:pPr>
            <a:r>
              <a:rPr dirty="0" sz="3400" spc="-85">
                <a:solidFill>
                  <a:srgbClr val="000000"/>
                </a:solidFill>
              </a:rPr>
              <a:t>spreadsheet</a:t>
            </a:r>
            <a:r>
              <a:rPr dirty="0" sz="3400" spc="30">
                <a:solidFill>
                  <a:srgbClr val="000000"/>
                </a:solidFill>
              </a:rPr>
              <a:t> </a:t>
            </a:r>
            <a:r>
              <a:rPr dirty="0" sz="3400" spc="-10">
                <a:solidFill>
                  <a:srgbClr val="000000"/>
                </a:solidFill>
              </a:rPr>
              <a:t>work.</a:t>
            </a:r>
            <a:endParaRPr sz="3400"/>
          </a:p>
          <a:p>
            <a:pPr marL="593090" marR="222250" indent="-333375">
              <a:lnSpc>
                <a:spcPts val="4000"/>
              </a:lnSpc>
              <a:spcBef>
                <a:spcPts val="185"/>
              </a:spcBef>
              <a:buClr>
                <a:srgbClr val="181818"/>
              </a:buClr>
              <a:buChar char="•"/>
              <a:tabLst>
                <a:tab pos="599440" algn="l"/>
              </a:tabLst>
            </a:pPr>
            <a:r>
              <a:rPr dirty="0" sz="3450" spc="-40">
                <a:solidFill>
                  <a:srgbClr val="000000"/>
                </a:solidFill>
              </a:rPr>
              <a:t>Decision</a:t>
            </a:r>
            <a:r>
              <a:rPr dirty="0" sz="3450" spc="-105">
                <a:solidFill>
                  <a:srgbClr val="000000"/>
                </a:solidFill>
              </a:rPr>
              <a:t> </a:t>
            </a:r>
            <a:r>
              <a:rPr dirty="0" sz="3450">
                <a:solidFill>
                  <a:srgbClr val="000000"/>
                </a:solidFill>
              </a:rPr>
              <a:t>Naking:</a:t>
            </a:r>
            <a:r>
              <a:rPr dirty="0" sz="3450" spc="-70">
                <a:solidFill>
                  <a:srgbClr val="000000"/>
                </a:solidFill>
              </a:rPr>
              <a:t> </a:t>
            </a:r>
            <a:r>
              <a:rPr dirty="0" sz="3450" spc="-60">
                <a:solidFill>
                  <a:srgbClr val="000000"/>
                </a:solidFill>
              </a:rPr>
              <a:t>Based</a:t>
            </a:r>
            <a:r>
              <a:rPr dirty="0" sz="3450">
                <a:solidFill>
                  <a:srgbClr val="000000"/>
                </a:solidFill>
              </a:rPr>
              <a:t> </a:t>
            </a:r>
            <a:r>
              <a:rPr dirty="0" sz="3450" spc="-190">
                <a:solidFill>
                  <a:srgbClr val="000000"/>
                </a:solidFill>
              </a:rPr>
              <a:t>on</a:t>
            </a:r>
            <a:r>
              <a:rPr dirty="0" sz="3450" spc="-110">
                <a:solidFill>
                  <a:srgbClr val="000000"/>
                </a:solidFill>
              </a:rPr>
              <a:t> gut-</a:t>
            </a:r>
            <a:r>
              <a:rPr dirty="0" sz="3450" spc="-20">
                <a:solidFill>
                  <a:srgbClr val="000000"/>
                </a:solidFill>
              </a:rPr>
              <a:t>feel </a:t>
            </a:r>
            <a:r>
              <a:rPr dirty="0" sz="3450" spc="-20">
                <a:solidFill>
                  <a:srgbClr val="000000"/>
                </a:solidFill>
              </a:rPr>
              <a:t>	</a:t>
            </a:r>
            <a:r>
              <a:rPr dirty="0" sz="3450" spc="-150">
                <a:solidFill>
                  <a:srgbClr val="000000"/>
                </a:solidFill>
              </a:rPr>
              <a:t>and</a:t>
            </a:r>
            <a:r>
              <a:rPr dirty="0" sz="3450" spc="-40">
                <a:solidFill>
                  <a:srgbClr val="000000"/>
                </a:solidFill>
              </a:rPr>
              <a:t> </a:t>
            </a:r>
            <a:r>
              <a:rPr dirty="0" sz="3450" spc="-160">
                <a:solidFill>
                  <a:srgbClr val="000000"/>
                </a:solidFill>
              </a:rPr>
              <a:t>old</a:t>
            </a:r>
            <a:r>
              <a:rPr dirty="0" sz="3450" spc="-75">
                <a:solidFill>
                  <a:srgbClr val="000000"/>
                </a:solidFill>
              </a:rPr>
              <a:t> </a:t>
            </a:r>
            <a:r>
              <a:rPr dirty="0" sz="3450" spc="-10">
                <a:solidFill>
                  <a:srgbClr val="000000"/>
                </a:solidFill>
              </a:rPr>
              <a:t>data.</a:t>
            </a:r>
            <a:endParaRPr sz="3450"/>
          </a:p>
          <a:p>
            <a:pPr marL="596900" indent="-335915">
              <a:lnSpc>
                <a:spcPts val="3865"/>
              </a:lnSpc>
              <a:buClr>
                <a:srgbClr val="161616"/>
              </a:buClr>
              <a:buChar char="•"/>
              <a:tabLst>
                <a:tab pos="596900" algn="l"/>
              </a:tabLst>
            </a:pPr>
            <a:r>
              <a:rPr dirty="0" sz="3400" spc="-40">
                <a:solidFill>
                  <a:srgbClr val="000000"/>
                </a:solidFill>
              </a:rPr>
              <a:t>Operations:</a:t>
            </a:r>
            <a:r>
              <a:rPr dirty="0" sz="3400" spc="-90">
                <a:solidFill>
                  <a:srgbClr val="000000"/>
                </a:solidFill>
              </a:rPr>
              <a:t> </a:t>
            </a:r>
            <a:r>
              <a:rPr dirty="0" sz="3400" spc="-60">
                <a:solidFill>
                  <a:srgbClr val="000000"/>
                </a:solidFill>
              </a:rPr>
              <a:t>Reactive</a:t>
            </a:r>
            <a:r>
              <a:rPr dirty="0" sz="3400" spc="-85">
                <a:solidFill>
                  <a:srgbClr val="000000"/>
                </a:solidFill>
              </a:rPr>
              <a:t> </a:t>
            </a:r>
            <a:r>
              <a:rPr dirty="0" sz="3400" spc="-65">
                <a:solidFill>
                  <a:srgbClr val="000000"/>
                </a:solidFill>
              </a:rPr>
              <a:t>scrambling</a:t>
            </a:r>
            <a:r>
              <a:rPr dirty="0" sz="3400" spc="-130">
                <a:solidFill>
                  <a:srgbClr val="000000"/>
                </a:solidFill>
              </a:rPr>
              <a:t> </a:t>
            </a:r>
            <a:r>
              <a:rPr dirty="0" sz="3400" spc="-25">
                <a:solidFill>
                  <a:srgbClr val="000000"/>
                </a:solidFill>
              </a:rPr>
              <a:t>and</a:t>
            </a:r>
            <a:endParaRPr sz="3400"/>
          </a:p>
          <a:p>
            <a:pPr marL="599440">
              <a:lnSpc>
                <a:spcPts val="4065"/>
              </a:lnSpc>
            </a:pPr>
            <a:r>
              <a:rPr dirty="0" sz="3400" spc="-45">
                <a:solidFill>
                  <a:srgbClr val="000000"/>
                </a:solidFill>
              </a:rPr>
              <a:t>lost</a:t>
            </a:r>
            <a:r>
              <a:rPr dirty="0" sz="3400" spc="-125">
                <a:solidFill>
                  <a:srgbClr val="000000"/>
                </a:solidFill>
              </a:rPr>
              <a:t> </a:t>
            </a:r>
            <a:r>
              <a:rPr dirty="0" sz="3400" spc="-10">
                <a:solidFill>
                  <a:srgbClr val="000000"/>
                </a:solidFill>
              </a:rPr>
              <a:t>sales.</a:t>
            </a:r>
            <a:endParaRPr sz="3400"/>
          </a:p>
        </p:txBody>
      </p:sp>
      <p:sp>
        <p:nvSpPr>
          <p:cNvPr id="5" name="object 5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311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5"/>
              </a:spcBef>
            </a:pPr>
            <a:r>
              <a:rPr dirty="0" spc="70">
                <a:solidFill>
                  <a:srgbClr val="777777"/>
                </a:solidFill>
              </a:rPr>
              <a:t>After</a:t>
            </a:r>
            <a:r>
              <a:rPr dirty="0" spc="-30">
                <a:solidFill>
                  <a:srgbClr val="777777"/>
                </a:solidFill>
              </a:rPr>
              <a:t> </a:t>
            </a:r>
            <a:r>
              <a:rPr dirty="0" spc="114">
                <a:solidFill>
                  <a:srgbClr val="757575"/>
                </a:solidFill>
              </a:rPr>
              <a:t>with</a:t>
            </a:r>
            <a:r>
              <a:rPr dirty="0" spc="-200">
                <a:solidFill>
                  <a:srgbClr val="757575"/>
                </a:solidFill>
              </a:rPr>
              <a:t> </a:t>
            </a:r>
            <a:r>
              <a:rPr dirty="0" spc="185"/>
              <a:t>RetailSense</a:t>
            </a:r>
            <a:r>
              <a:rPr dirty="0" spc="65"/>
              <a:t> </a:t>
            </a:r>
            <a:r>
              <a:rPr dirty="0" spc="-25">
                <a:solidFill>
                  <a:srgbClr val="777777"/>
                </a:solidFill>
              </a:rPr>
              <a:t>AI</a:t>
            </a:r>
          </a:p>
          <a:p>
            <a:pPr marL="572135" indent="-320675">
              <a:lnSpc>
                <a:spcPct val="100000"/>
              </a:lnSpc>
              <a:spcBef>
                <a:spcPts val="1650"/>
              </a:spcBef>
              <a:buClr>
                <a:srgbClr val="525252"/>
              </a:buClr>
              <a:buChar char="•"/>
              <a:tabLst>
                <a:tab pos="572135" algn="l"/>
              </a:tabLst>
            </a:pPr>
            <a:r>
              <a:rPr dirty="0" sz="3100" spc="85">
                <a:solidFill>
                  <a:srgbClr val="383838"/>
                </a:solidFill>
              </a:rPr>
              <a:t>Inventory</a:t>
            </a:r>
            <a:r>
              <a:rPr dirty="0" sz="3100" spc="385">
                <a:solidFill>
                  <a:srgbClr val="383838"/>
                </a:solidFill>
              </a:rPr>
              <a:t> </a:t>
            </a:r>
            <a:r>
              <a:rPr dirty="0" sz="3100">
                <a:solidFill>
                  <a:srgbClr val="343434"/>
                </a:solidFill>
              </a:rPr>
              <a:t>Management:</a:t>
            </a:r>
            <a:r>
              <a:rPr dirty="0" sz="3100" spc="565">
                <a:solidFill>
                  <a:srgbClr val="343434"/>
                </a:solidFill>
              </a:rPr>
              <a:t> </a:t>
            </a:r>
            <a:r>
              <a:rPr dirty="0" sz="3100" spc="-10">
                <a:solidFill>
                  <a:srgbClr val="000000"/>
                </a:solidFill>
              </a:rPr>
              <a:t>Optimised</a:t>
            </a:r>
            <a:endParaRPr sz="3100"/>
          </a:p>
          <a:p>
            <a:pPr marL="577850">
              <a:lnSpc>
                <a:spcPct val="100000"/>
              </a:lnSpc>
              <a:spcBef>
                <a:spcPts val="229"/>
              </a:spcBef>
            </a:pPr>
            <a:r>
              <a:rPr dirty="0" sz="3200">
                <a:solidFill>
                  <a:srgbClr val="000000"/>
                </a:solidFill>
              </a:rPr>
              <a:t>stock</a:t>
            </a:r>
            <a:r>
              <a:rPr dirty="0" sz="3200" spc="10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levels</a:t>
            </a:r>
            <a:r>
              <a:rPr dirty="0" sz="3200" spc="25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and</a:t>
            </a:r>
            <a:r>
              <a:rPr dirty="0" sz="3200" spc="-25">
                <a:solidFill>
                  <a:srgbClr val="000000"/>
                </a:solidFill>
              </a:rPr>
              <a:t> </a:t>
            </a:r>
            <a:r>
              <a:rPr dirty="0" sz="3200" spc="-20">
                <a:solidFill>
                  <a:srgbClr val="000000"/>
                </a:solidFill>
              </a:rPr>
              <a:t>timely</a:t>
            </a:r>
            <a:r>
              <a:rPr dirty="0" sz="3200">
                <a:solidFill>
                  <a:srgbClr val="000000"/>
                </a:solidFill>
              </a:rPr>
              <a:t> </a:t>
            </a:r>
            <a:r>
              <a:rPr dirty="0" sz="3200" spc="-10">
                <a:solidFill>
                  <a:srgbClr val="000000"/>
                </a:solidFill>
              </a:rPr>
              <a:t>alerts.</a:t>
            </a:r>
            <a:endParaRPr sz="3200"/>
          </a:p>
          <a:p>
            <a:pPr marL="592455" indent="-341630">
              <a:lnSpc>
                <a:spcPct val="100000"/>
              </a:lnSpc>
              <a:spcBef>
                <a:spcPts val="160"/>
              </a:spcBef>
              <a:buClr>
                <a:srgbClr val="4F4F4F"/>
              </a:buClr>
              <a:buChar char="•"/>
              <a:tabLst>
                <a:tab pos="592455" algn="l"/>
              </a:tabLst>
            </a:pPr>
            <a:r>
              <a:rPr dirty="0" sz="3200" spc="110">
                <a:solidFill>
                  <a:srgbClr val="343434"/>
                </a:solidFill>
              </a:rPr>
              <a:t>Sales</a:t>
            </a:r>
            <a:r>
              <a:rPr dirty="0" sz="3200" spc="-45">
                <a:solidFill>
                  <a:srgbClr val="343434"/>
                </a:solidFill>
              </a:rPr>
              <a:t> </a:t>
            </a:r>
            <a:r>
              <a:rPr dirty="0" sz="3200" spc="80">
                <a:solidFill>
                  <a:srgbClr val="313131"/>
                </a:solidFill>
              </a:rPr>
              <a:t>Analysis:</a:t>
            </a:r>
            <a:r>
              <a:rPr dirty="0" sz="3200" spc="95">
                <a:solidFill>
                  <a:srgbClr val="313131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Instant</a:t>
            </a:r>
            <a:r>
              <a:rPr dirty="0" sz="3200" spc="80">
                <a:solidFill>
                  <a:srgbClr val="000000"/>
                </a:solidFill>
              </a:rPr>
              <a:t> </a:t>
            </a:r>
            <a:r>
              <a:rPr dirty="0" sz="3200" spc="-20">
                <a:solidFill>
                  <a:srgbClr val="000000"/>
                </a:solidFill>
              </a:rPr>
              <a:t>performance</a:t>
            </a:r>
            <a:endParaRPr sz="3200"/>
          </a:p>
          <a:p>
            <a:pPr marL="574675">
              <a:lnSpc>
                <a:spcPct val="100000"/>
              </a:lnSpc>
              <a:spcBef>
                <a:spcPts val="60"/>
              </a:spcBef>
            </a:pPr>
            <a:r>
              <a:rPr dirty="0" sz="3300" spc="-10">
                <a:solidFill>
                  <a:srgbClr val="000000"/>
                </a:solidFill>
              </a:rPr>
              <a:t>analytics.</a:t>
            </a:r>
            <a:endParaRPr sz="3300"/>
          </a:p>
          <a:p>
            <a:pPr marL="570865" indent="-321310">
              <a:lnSpc>
                <a:spcPct val="100000"/>
              </a:lnSpc>
              <a:spcBef>
                <a:spcPts val="90"/>
              </a:spcBef>
              <a:buClr>
                <a:srgbClr val="545454"/>
              </a:buClr>
              <a:buChar char="•"/>
              <a:tabLst>
                <a:tab pos="570865" algn="l"/>
              </a:tabLst>
            </a:pPr>
            <a:r>
              <a:rPr dirty="0" sz="3250" spc="50">
                <a:solidFill>
                  <a:srgbClr val="333333"/>
                </a:solidFill>
              </a:rPr>
              <a:t>Decision</a:t>
            </a:r>
            <a:r>
              <a:rPr dirty="0" sz="3250" spc="-60">
                <a:solidFill>
                  <a:srgbClr val="333333"/>
                </a:solidFill>
              </a:rPr>
              <a:t> </a:t>
            </a:r>
            <a:r>
              <a:rPr dirty="0" sz="3250" spc="80">
                <a:solidFill>
                  <a:srgbClr val="343434"/>
                </a:solidFill>
              </a:rPr>
              <a:t>Naking:</a:t>
            </a:r>
            <a:r>
              <a:rPr dirty="0" sz="3250" spc="75">
                <a:solidFill>
                  <a:srgbClr val="343434"/>
                </a:solidFill>
              </a:rPr>
              <a:t> </a:t>
            </a:r>
            <a:r>
              <a:rPr dirty="0" sz="3250" spc="-45">
                <a:solidFill>
                  <a:srgbClr val="000000"/>
                </a:solidFill>
              </a:rPr>
              <a:t>Intelligent,</a:t>
            </a:r>
            <a:r>
              <a:rPr dirty="0" sz="3250" spc="155">
                <a:solidFill>
                  <a:srgbClr val="000000"/>
                </a:solidFill>
              </a:rPr>
              <a:t> </a:t>
            </a:r>
            <a:r>
              <a:rPr dirty="0" sz="3250" spc="-10">
                <a:solidFill>
                  <a:srgbClr val="000000"/>
                </a:solidFill>
              </a:rPr>
              <a:t>data-</a:t>
            </a:r>
            <a:endParaRPr sz="3250"/>
          </a:p>
          <a:p>
            <a:pPr marL="576580">
              <a:lnSpc>
                <a:spcPct val="100000"/>
              </a:lnSpc>
              <a:spcBef>
                <a:spcPts val="250"/>
              </a:spcBef>
            </a:pPr>
            <a:r>
              <a:rPr dirty="0" sz="3100" spc="55">
                <a:solidFill>
                  <a:srgbClr val="000000"/>
                </a:solidFill>
              </a:rPr>
              <a:t>backed</a:t>
            </a:r>
            <a:r>
              <a:rPr dirty="0" sz="3100" spc="235">
                <a:solidFill>
                  <a:srgbClr val="000000"/>
                </a:solidFill>
              </a:rPr>
              <a:t> </a:t>
            </a:r>
            <a:r>
              <a:rPr dirty="0" sz="3100">
                <a:solidFill>
                  <a:srgbClr val="000000"/>
                </a:solidFill>
              </a:rPr>
              <a:t>restocking</a:t>
            </a:r>
            <a:r>
              <a:rPr dirty="0" sz="3100" spc="254">
                <a:solidFill>
                  <a:srgbClr val="000000"/>
                </a:solidFill>
              </a:rPr>
              <a:t> </a:t>
            </a:r>
            <a:r>
              <a:rPr dirty="0" sz="3100" spc="-10">
                <a:solidFill>
                  <a:srgbClr val="000000"/>
                </a:solidFill>
              </a:rPr>
              <a:t>decisions.</a:t>
            </a:r>
            <a:endParaRPr sz="3100"/>
          </a:p>
          <a:p>
            <a:pPr marL="583565" marR="581660" indent="-332105">
              <a:lnSpc>
                <a:spcPct val="107500"/>
              </a:lnSpc>
              <a:buChar char="•"/>
              <a:tabLst>
                <a:tab pos="583565" algn="l"/>
                <a:tab pos="587375" algn="l"/>
              </a:tabLst>
            </a:pPr>
            <a:r>
              <a:rPr dirty="0" sz="3100">
                <a:solidFill>
                  <a:srgbClr val="4D4D4D"/>
                </a:solidFill>
              </a:rPr>
              <a:t>	</a:t>
            </a:r>
            <a:r>
              <a:rPr dirty="0" sz="3100" spc="60">
                <a:solidFill>
                  <a:srgbClr val="363636"/>
                </a:solidFill>
              </a:rPr>
              <a:t>Operations:</a:t>
            </a:r>
            <a:r>
              <a:rPr dirty="0" sz="3100" spc="300">
                <a:solidFill>
                  <a:srgbClr val="363636"/>
                </a:solidFill>
              </a:rPr>
              <a:t> </a:t>
            </a:r>
            <a:r>
              <a:rPr dirty="0" sz="3100">
                <a:solidFill>
                  <a:srgbClr val="000000"/>
                </a:solidFill>
              </a:rPr>
              <a:t>Efficient,</a:t>
            </a:r>
            <a:r>
              <a:rPr dirty="0" sz="3100" spc="190">
                <a:solidFill>
                  <a:srgbClr val="000000"/>
                </a:solidFill>
              </a:rPr>
              <a:t> </a:t>
            </a:r>
            <a:r>
              <a:rPr dirty="0" sz="3100" spc="-10">
                <a:solidFill>
                  <a:srgbClr val="000000"/>
                </a:solidFill>
              </a:rPr>
              <a:t>automated workflow</a:t>
            </a:r>
            <a:r>
              <a:rPr dirty="0" sz="3100" spc="145">
                <a:solidFill>
                  <a:srgbClr val="000000"/>
                </a:solidFill>
              </a:rPr>
              <a:t> </a:t>
            </a:r>
            <a:r>
              <a:rPr dirty="0" sz="3100">
                <a:solidFill>
                  <a:srgbClr val="000000"/>
                </a:solidFill>
              </a:rPr>
              <a:t>and</a:t>
            </a:r>
            <a:r>
              <a:rPr dirty="0" sz="3100" spc="25">
                <a:solidFill>
                  <a:srgbClr val="000000"/>
                </a:solidFill>
              </a:rPr>
              <a:t> </a:t>
            </a:r>
            <a:r>
              <a:rPr dirty="0" sz="3100" spc="65">
                <a:solidFill>
                  <a:srgbClr val="000000"/>
                </a:solidFill>
              </a:rPr>
              <a:t>loss</a:t>
            </a:r>
            <a:r>
              <a:rPr dirty="0" sz="3100" spc="-85">
                <a:solidFill>
                  <a:srgbClr val="000000"/>
                </a:solidFill>
              </a:rPr>
              <a:t> </a:t>
            </a:r>
            <a:r>
              <a:rPr dirty="0" sz="3100" spc="-10">
                <a:solidFill>
                  <a:srgbClr val="000000"/>
                </a:solidFill>
              </a:rPr>
              <a:t>prevention.</a:t>
            </a:r>
            <a:endParaRPr sz="3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5900" y="952500"/>
            <a:ext cx="7683500" cy="7861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6655" rIns="0" bIns="0" rtlCol="0" vert="horz">
            <a:spAutoFit/>
          </a:bodyPr>
          <a:lstStyle/>
          <a:p>
            <a:pPr marL="19685">
              <a:lnSpc>
                <a:spcPts val="8190"/>
              </a:lnSpc>
              <a:spcBef>
                <a:spcPts val="100"/>
              </a:spcBef>
            </a:pPr>
            <a:r>
              <a:rPr dirty="0" sz="7150" spc="150">
                <a:solidFill>
                  <a:srgbClr val="2A2A2A"/>
                </a:solidFill>
              </a:rPr>
              <a:t>Empowering</a:t>
            </a:r>
            <a:r>
              <a:rPr dirty="0" sz="7150" spc="-45">
                <a:solidFill>
                  <a:srgbClr val="2A2A2A"/>
                </a:solidFill>
              </a:rPr>
              <a:t> </a:t>
            </a:r>
            <a:r>
              <a:rPr dirty="0" sz="7150" spc="100">
                <a:solidFill>
                  <a:srgbClr val="262626"/>
                </a:solidFill>
              </a:rPr>
              <a:t>the</a:t>
            </a:r>
            <a:endParaRPr sz="7150"/>
          </a:p>
          <a:p>
            <a:pPr marL="22225">
              <a:lnSpc>
                <a:spcPts val="8370"/>
              </a:lnSpc>
            </a:pPr>
            <a:r>
              <a:rPr dirty="0" sz="7300" spc="75">
                <a:solidFill>
                  <a:srgbClr val="242424"/>
                </a:solidFill>
              </a:rPr>
              <a:t>Modern</a:t>
            </a:r>
            <a:r>
              <a:rPr dirty="0" sz="7300" spc="-400">
                <a:solidFill>
                  <a:srgbClr val="242424"/>
                </a:solidFill>
              </a:rPr>
              <a:t> </a:t>
            </a:r>
            <a:r>
              <a:rPr dirty="0" sz="7300" spc="75">
                <a:solidFill>
                  <a:srgbClr val="262626"/>
                </a:solidFill>
              </a:rPr>
              <a:t>Retailer</a:t>
            </a:r>
            <a:endParaRPr sz="7300"/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2550" rIns="0" bIns="0" rtlCol="0" vert="horz">
            <a:spAutoFit/>
          </a:bodyPr>
          <a:lstStyle/>
          <a:p>
            <a:pPr marL="16510" marR="662305" indent="-4445">
              <a:lnSpc>
                <a:spcPts val="4000"/>
              </a:lnSpc>
              <a:spcBef>
                <a:spcPts val="650"/>
              </a:spcBef>
            </a:pPr>
            <a:r>
              <a:rPr dirty="0" spc="-190"/>
              <a:t>Built</a:t>
            </a:r>
            <a:r>
              <a:rPr dirty="0" spc="-50"/>
              <a:t> </a:t>
            </a:r>
            <a:r>
              <a:rPr dirty="0" spc="-254"/>
              <a:t>for</a:t>
            </a:r>
            <a:r>
              <a:rPr dirty="0" spc="-60"/>
              <a:t> </a:t>
            </a:r>
            <a:r>
              <a:rPr dirty="0" spc="-260"/>
              <a:t>the</a:t>
            </a:r>
            <a:r>
              <a:rPr dirty="0" spc="-160"/>
              <a:t> </a:t>
            </a:r>
            <a:r>
              <a:rPr dirty="0" spc="-195"/>
              <a:t>individuals</a:t>
            </a:r>
            <a:r>
              <a:rPr dirty="0" spc="170"/>
              <a:t> </a:t>
            </a:r>
            <a:r>
              <a:rPr dirty="0" spc="-240"/>
              <a:t>at</a:t>
            </a:r>
            <a:r>
              <a:rPr dirty="0" spc="-35"/>
              <a:t> </a:t>
            </a:r>
            <a:r>
              <a:rPr dirty="0" spc="-260"/>
              <a:t>the</a:t>
            </a:r>
            <a:r>
              <a:rPr dirty="0" spc="-195"/>
              <a:t> </a:t>
            </a:r>
            <a:r>
              <a:rPr dirty="0" spc="-270"/>
              <a:t>heart</a:t>
            </a:r>
            <a:r>
              <a:rPr dirty="0" spc="90"/>
              <a:t> </a:t>
            </a:r>
            <a:r>
              <a:rPr dirty="0" spc="-345"/>
              <a:t>of </a:t>
            </a:r>
            <a:r>
              <a:rPr dirty="0" spc="-195"/>
              <a:t>retail.</a:t>
            </a:r>
            <a:r>
              <a:rPr dirty="0" spc="-15"/>
              <a:t> </a:t>
            </a:r>
            <a:r>
              <a:rPr dirty="0" spc="-350"/>
              <a:t>Our</a:t>
            </a:r>
            <a:r>
              <a:rPr dirty="0" spc="-95"/>
              <a:t> </a:t>
            </a:r>
            <a:r>
              <a:rPr dirty="0" spc="-204"/>
              <a:t>solution</a:t>
            </a:r>
            <a:r>
              <a:rPr dirty="0" spc="15"/>
              <a:t> </a:t>
            </a:r>
            <a:r>
              <a:rPr dirty="0" spc="-105"/>
              <a:t>is</a:t>
            </a:r>
            <a:r>
              <a:rPr dirty="0" spc="-110"/>
              <a:t> </a:t>
            </a:r>
            <a:r>
              <a:rPr dirty="0" spc="-220"/>
              <a:t>designed</a:t>
            </a:r>
            <a:r>
              <a:rPr dirty="0" spc="65"/>
              <a:t> </a:t>
            </a:r>
            <a:r>
              <a:rPr dirty="0" spc="-20"/>
              <a:t>for:</a:t>
            </a:r>
          </a:p>
          <a:p>
            <a:pPr marL="596265" indent="-347345">
              <a:lnSpc>
                <a:spcPts val="3775"/>
              </a:lnSpc>
              <a:buChar char="•"/>
              <a:tabLst>
                <a:tab pos="596265" algn="l"/>
              </a:tabLst>
            </a:pPr>
            <a:r>
              <a:rPr dirty="0" spc="-150"/>
              <a:t>Retail</a:t>
            </a:r>
            <a:r>
              <a:rPr dirty="0" spc="-170"/>
              <a:t> </a:t>
            </a:r>
            <a:r>
              <a:rPr dirty="0" spc="-235"/>
              <a:t>Shop</a:t>
            </a:r>
            <a:r>
              <a:rPr dirty="0" spc="10"/>
              <a:t> </a:t>
            </a:r>
            <a:r>
              <a:rPr dirty="0" spc="-330"/>
              <a:t>Owners</a:t>
            </a:r>
          </a:p>
          <a:p>
            <a:pPr marL="584200" indent="-334645">
              <a:lnSpc>
                <a:spcPts val="3990"/>
              </a:lnSpc>
              <a:buChar char="•"/>
              <a:tabLst>
                <a:tab pos="584200" algn="l"/>
              </a:tabLst>
            </a:pPr>
            <a:r>
              <a:rPr dirty="0" sz="3650" spc="-160"/>
              <a:t>Inventory</a:t>
            </a:r>
            <a:r>
              <a:rPr dirty="0" sz="3650" spc="-10"/>
              <a:t> </a:t>
            </a:r>
            <a:r>
              <a:rPr dirty="0" sz="3650" spc="-105"/>
              <a:t>Managers</a:t>
            </a:r>
            <a:endParaRPr sz="3650"/>
          </a:p>
          <a:p>
            <a:pPr marL="607060" indent="-358140">
              <a:lnSpc>
                <a:spcPts val="4010"/>
              </a:lnSpc>
              <a:buChar char="•"/>
              <a:tabLst>
                <a:tab pos="607060" algn="l"/>
              </a:tabLst>
            </a:pPr>
            <a:r>
              <a:rPr dirty="0" spc="-145"/>
              <a:t>Small</a:t>
            </a:r>
            <a:r>
              <a:rPr dirty="0" spc="-235"/>
              <a:t> </a:t>
            </a:r>
            <a:r>
              <a:rPr dirty="0" spc="-250"/>
              <a:t>to </a:t>
            </a:r>
            <a:r>
              <a:rPr dirty="0" spc="-220"/>
              <a:t>Nedium-</a:t>
            </a:r>
            <a:r>
              <a:rPr dirty="0" spc="-120"/>
              <a:t>sized</a:t>
            </a:r>
            <a:r>
              <a:rPr dirty="0" spc="15"/>
              <a:t> </a:t>
            </a:r>
            <a:r>
              <a:rPr dirty="0" spc="-75"/>
              <a:t>Enterprises</a:t>
            </a:r>
          </a:p>
          <a:p>
            <a:pPr marL="592455">
              <a:lnSpc>
                <a:spcPts val="4029"/>
              </a:lnSpc>
            </a:pPr>
            <a:r>
              <a:rPr dirty="0" sz="3800" spc="-10"/>
              <a:t>(SNEs)</a:t>
            </a:r>
            <a:endParaRPr sz="3800"/>
          </a:p>
          <a:p>
            <a:pPr marL="598805" marR="27305" indent="-350520">
              <a:lnSpc>
                <a:spcPts val="4000"/>
              </a:lnSpc>
              <a:spcBef>
                <a:spcPts val="295"/>
              </a:spcBef>
              <a:buChar char="•"/>
              <a:tabLst>
                <a:tab pos="598805" algn="l"/>
                <a:tab pos="606425" algn="l"/>
              </a:tabLst>
            </a:pPr>
            <a:r>
              <a:rPr dirty="0"/>
              <a:t>	</a:t>
            </a:r>
            <a:r>
              <a:rPr dirty="0" spc="-160"/>
              <a:t>Speciality</a:t>
            </a:r>
            <a:r>
              <a:rPr dirty="0" spc="25"/>
              <a:t> </a:t>
            </a:r>
            <a:r>
              <a:rPr dirty="0" spc="-190"/>
              <a:t>stores</a:t>
            </a:r>
            <a:r>
              <a:rPr dirty="0" spc="-25"/>
              <a:t> </a:t>
            </a:r>
            <a:r>
              <a:rPr dirty="0" spc="-155"/>
              <a:t>like </a:t>
            </a:r>
            <a:r>
              <a:rPr dirty="0" spc="-114"/>
              <a:t>boutiques, </a:t>
            </a:r>
            <a:r>
              <a:rPr dirty="0" spc="-254"/>
              <a:t>grocery</a:t>
            </a:r>
            <a:r>
              <a:rPr dirty="0" spc="35"/>
              <a:t> </a:t>
            </a:r>
            <a:r>
              <a:rPr dirty="0" spc="-180"/>
              <a:t>stores,</a:t>
            </a:r>
            <a:r>
              <a:rPr dirty="0" spc="-35"/>
              <a:t> </a:t>
            </a:r>
            <a:r>
              <a:rPr dirty="0" spc="-275"/>
              <a:t>and</a:t>
            </a:r>
            <a:r>
              <a:rPr dirty="0" spc="-40"/>
              <a:t> </a:t>
            </a:r>
            <a:r>
              <a:rPr dirty="0" spc="-160"/>
              <a:t>electronics</a:t>
            </a:r>
            <a:r>
              <a:rPr dirty="0" spc="120"/>
              <a:t> </a:t>
            </a:r>
            <a:r>
              <a:rPr dirty="0" spc="-150"/>
              <a:t>shops.</a:t>
            </a:r>
          </a:p>
          <a:p>
            <a:pPr marL="602615" indent="-353060">
              <a:lnSpc>
                <a:spcPts val="3715"/>
              </a:lnSpc>
              <a:buChar char="•"/>
              <a:tabLst>
                <a:tab pos="602615" algn="l"/>
              </a:tabLst>
            </a:pPr>
            <a:r>
              <a:rPr dirty="0" sz="3650" spc="-240"/>
              <a:t>Anyone</a:t>
            </a:r>
            <a:r>
              <a:rPr dirty="0" sz="3650" spc="25"/>
              <a:t> </a:t>
            </a:r>
            <a:r>
              <a:rPr dirty="0" sz="3650" spc="-305"/>
              <a:t>who</a:t>
            </a:r>
            <a:r>
              <a:rPr dirty="0" sz="3650" spc="-20"/>
              <a:t> </a:t>
            </a:r>
            <a:r>
              <a:rPr dirty="0" sz="3650" spc="-180"/>
              <a:t>wants</a:t>
            </a:r>
            <a:r>
              <a:rPr dirty="0" sz="3650" spc="50"/>
              <a:t> </a:t>
            </a:r>
            <a:r>
              <a:rPr dirty="0" sz="3650" spc="-155"/>
              <a:t>simple,</a:t>
            </a:r>
            <a:r>
              <a:rPr dirty="0" sz="3650" spc="-50"/>
              <a:t> </a:t>
            </a:r>
            <a:r>
              <a:rPr dirty="0" sz="3650" spc="-185"/>
              <a:t>automated</a:t>
            </a:r>
            <a:endParaRPr sz="3650"/>
          </a:p>
          <a:p>
            <a:pPr marL="600710">
              <a:lnSpc>
                <a:spcPts val="4285"/>
              </a:lnSpc>
            </a:pPr>
            <a:r>
              <a:rPr dirty="0" spc="-195"/>
              <a:t>retail</a:t>
            </a:r>
            <a:r>
              <a:rPr dirty="0" spc="-120"/>
              <a:t> </a:t>
            </a:r>
            <a:r>
              <a:rPr dirty="0" spc="-155"/>
              <a:t>insights</a:t>
            </a:r>
            <a:r>
              <a:rPr dirty="0" spc="65"/>
              <a:t> </a:t>
            </a:r>
            <a:r>
              <a:rPr dirty="0" spc="-265"/>
              <a:t>without</a:t>
            </a:r>
            <a:r>
              <a:rPr dirty="0" spc="35"/>
              <a:t> </a:t>
            </a:r>
            <a:r>
              <a:rPr dirty="0" spc="-250"/>
              <a:t>complex</a:t>
            </a:r>
            <a:r>
              <a:rPr dirty="0" spc="30"/>
              <a:t> </a:t>
            </a:r>
            <a:r>
              <a:rPr dirty="0" spc="-10"/>
              <a:t>tools.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9600" y="2857500"/>
            <a:ext cx="2895600" cy="30988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37400" y="2857500"/>
            <a:ext cx="3200400" cy="3098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33300" y="2895600"/>
            <a:ext cx="3441700" cy="30353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402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Your</a:t>
            </a:r>
            <a:r>
              <a:rPr dirty="0" spc="-100"/>
              <a:t> </a:t>
            </a:r>
            <a:r>
              <a:rPr dirty="0" spc="60">
                <a:solidFill>
                  <a:srgbClr val="1F1F1F"/>
                </a:solidFill>
              </a:rPr>
              <a:t>Business,</a:t>
            </a:r>
            <a:r>
              <a:rPr dirty="0" spc="-65">
                <a:solidFill>
                  <a:srgbClr val="1F1F1F"/>
                </a:solidFill>
              </a:rPr>
              <a:t> </a:t>
            </a:r>
            <a:r>
              <a:rPr dirty="0" spc="135"/>
              <a:t>Supercharged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026871" y="6656651"/>
          <a:ext cx="15455265" cy="2141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54600"/>
                <a:gridCol w="5351780"/>
                <a:gridCol w="4973320"/>
              </a:tblGrid>
              <a:tr h="636905">
                <a:tc>
                  <a:txBody>
                    <a:bodyPr/>
                    <a:lstStyle/>
                    <a:p>
                      <a:pPr algn="ctr" marR="461009">
                        <a:lnSpc>
                          <a:spcPts val="4285"/>
                        </a:lnSpc>
                      </a:pPr>
                      <a:r>
                        <a:rPr dirty="0" sz="4500" spc="185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Save</a:t>
                      </a:r>
                      <a:r>
                        <a:rPr dirty="0" sz="4500" spc="-27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0" spc="-2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endParaRPr sz="4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2390">
                        <a:lnSpc>
                          <a:spcPts val="4285"/>
                        </a:lnSpc>
                      </a:pPr>
                      <a:r>
                        <a:rPr dirty="0" sz="4500" spc="9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Increase</a:t>
                      </a:r>
                      <a:r>
                        <a:rPr dirty="0" sz="4500" spc="-17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0" spc="5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Revenue</a:t>
                      </a:r>
                      <a:endParaRPr sz="4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52120">
                        <a:lnSpc>
                          <a:spcPts val="4285"/>
                        </a:lnSpc>
                      </a:pPr>
                      <a:r>
                        <a:rPr dirty="0" sz="4500" spc="5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Gain</a:t>
                      </a:r>
                      <a:r>
                        <a:rPr dirty="0" sz="4500" spc="-28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0" spc="10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Clarity</a:t>
                      </a:r>
                      <a:endParaRPr sz="4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542925">
                <a:tc>
                  <a:txBody>
                    <a:bodyPr/>
                    <a:lstStyle/>
                    <a:p>
                      <a:pPr algn="ctr" marR="434975">
                        <a:lnSpc>
                          <a:spcPts val="4065"/>
                        </a:lnSpc>
                      </a:pPr>
                      <a:r>
                        <a:rPr dirty="0" sz="3750" spc="-295">
                          <a:latin typeface="Calibri"/>
                          <a:cs typeface="Calibri"/>
                        </a:rPr>
                        <a:t>Automate</a:t>
                      </a:r>
                      <a:r>
                        <a:rPr dirty="0" sz="37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240">
                          <a:latin typeface="Calibri"/>
                          <a:cs typeface="Calibri"/>
                        </a:rPr>
                        <a:t>hours</a:t>
                      </a:r>
                      <a:r>
                        <a:rPr dirty="0" sz="375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315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37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120">
                          <a:latin typeface="Calibri"/>
                          <a:cs typeface="Calibri"/>
                        </a:rPr>
                        <a:t>manual</a:t>
                      </a:r>
                      <a:endParaRPr sz="37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4065"/>
                        </a:lnSpc>
                      </a:pPr>
                      <a:r>
                        <a:rPr dirty="0" sz="3750" spc="-220">
                          <a:latin typeface="Calibri"/>
                          <a:cs typeface="Calibri"/>
                        </a:rPr>
                        <a:t>Prevent</a:t>
                      </a:r>
                      <a:r>
                        <a:rPr dirty="0" sz="37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165">
                          <a:latin typeface="Calibri"/>
                          <a:cs typeface="Calibri"/>
                        </a:rPr>
                        <a:t>lost</a:t>
                      </a:r>
                      <a:r>
                        <a:rPr dirty="0" sz="375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95"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375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300">
                          <a:latin typeface="Calibri"/>
                          <a:cs typeface="Calibri"/>
                        </a:rPr>
                        <a:t>with</a:t>
                      </a:r>
                      <a:endParaRPr sz="37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56565">
                        <a:lnSpc>
                          <a:spcPts val="4065"/>
                        </a:lnSpc>
                      </a:pPr>
                      <a:r>
                        <a:rPr dirty="0" sz="3750" spc="-370">
                          <a:latin typeface="Calibri"/>
                          <a:cs typeface="Calibri"/>
                        </a:rPr>
                        <a:t>Make</a:t>
                      </a:r>
                      <a:r>
                        <a:rPr dirty="0" sz="37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240">
                          <a:latin typeface="Calibri"/>
                          <a:cs typeface="Calibri"/>
                        </a:rPr>
                        <a:t>smarter,</a:t>
                      </a:r>
                      <a:r>
                        <a:rPr dirty="0" sz="37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25">
                          <a:latin typeface="Calibri"/>
                          <a:cs typeface="Calibri"/>
                        </a:rPr>
                        <a:t>faster</a:t>
                      </a:r>
                      <a:endParaRPr sz="37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962025">
                <a:tc>
                  <a:txBody>
                    <a:bodyPr/>
                    <a:lstStyle/>
                    <a:p>
                      <a:pPr algn="ctr" marR="465455">
                        <a:lnSpc>
                          <a:spcPts val="3590"/>
                        </a:lnSpc>
                      </a:pPr>
                      <a:r>
                        <a:rPr dirty="0" sz="3750" spc="-160">
                          <a:latin typeface="Calibri"/>
                          <a:cs typeface="Calibri"/>
                        </a:rPr>
                        <a:t>analysis</a:t>
                      </a:r>
                      <a:r>
                        <a:rPr dirty="0" sz="37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27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37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21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3750" spc="-2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45">
                          <a:latin typeface="Calibri"/>
                          <a:cs typeface="Calibri"/>
                        </a:rPr>
                        <a:t>entry.</a:t>
                      </a:r>
                      <a:endParaRPr sz="37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3240"/>
                        </a:lnSpc>
                      </a:pPr>
                      <a:r>
                        <a:rPr dirty="0" sz="3750" spc="-220">
                          <a:latin typeface="Calibri"/>
                          <a:cs typeface="Calibri"/>
                        </a:rPr>
                        <a:t>proactive,</a:t>
                      </a:r>
                      <a:r>
                        <a:rPr dirty="0" sz="37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300">
                          <a:latin typeface="Calibri"/>
                          <a:cs typeface="Calibri"/>
                        </a:rPr>
                        <a:t>intelti;¿ent</a:t>
                      </a:r>
                      <a:r>
                        <a:rPr dirty="0" sz="37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20">
                          <a:latin typeface="Calibri"/>
                          <a:cs typeface="Calibri"/>
                        </a:rPr>
                        <a:t>low-</a:t>
                      </a:r>
                      <a:endParaRPr sz="3750">
                        <a:latin typeface="Calibri"/>
                        <a:cs typeface="Calibri"/>
                      </a:endParaRPr>
                    </a:p>
                    <a:p>
                      <a:pPr algn="ctr" marR="52069">
                        <a:lnSpc>
                          <a:spcPts val="4150"/>
                        </a:lnSpc>
                      </a:pPr>
                      <a:r>
                        <a:rPr dirty="0" sz="3750" spc="-165">
                          <a:latin typeface="Calibri"/>
                          <a:cs typeface="Calibri"/>
                        </a:rPr>
                        <a:t>stock</a:t>
                      </a:r>
                      <a:r>
                        <a:rPr dirty="0" sz="375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40">
                          <a:latin typeface="Calibri"/>
                          <a:cs typeface="Calibri"/>
                        </a:rPr>
                        <a:t>alerts.</a:t>
                      </a:r>
                      <a:endParaRPr sz="37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59740">
                        <a:lnSpc>
                          <a:spcPts val="3240"/>
                        </a:lnSpc>
                      </a:pPr>
                      <a:r>
                        <a:rPr dirty="0" sz="3750" spc="-165">
                          <a:latin typeface="Calibri"/>
                          <a:cs typeface="Calibri"/>
                        </a:rPr>
                        <a:t>decisions</a:t>
                      </a:r>
                      <a:r>
                        <a:rPr dirty="0" sz="37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275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375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100">
                          <a:latin typeface="Calibri"/>
                          <a:cs typeface="Calibri"/>
                        </a:rPr>
                        <a:t>powerful</a:t>
                      </a:r>
                      <a:endParaRPr sz="3750">
                        <a:latin typeface="Calibri"/>
                        <a:cs typeface="Calibri"/>
                      </a:endParaRPr>
                    </a:p>
                    <a:p>
                      <a:pPr algn="ctr" marL="506095">
                        <a:lnSpc>
                          <a:spcPts val="4150"/>
                        </a:lnSpc>
                      </a:pPr>
                      <a:r>
                        <a:rPr dirty="0" sz="3750" spc="-165">
                          <a:latin typeface="Calibri"/>
                          <a:cs typeface="Calibri"/>
                        </a:rPr>
                        <a:t>insights</a:t>
                      </a:r>
                      <a:r>
                        <a:rPr dirty="0" sz="37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195"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375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300">
                          <a:latin typeface="Calibri"/>
                          <a:cs typeface="Calibri"/>
                        </a:rPr>
                        <a:t>your</a:t>
                      </a:r>
                      <a:r>
                        <a:rPr dirty="0" sz="37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750" spc="-140">
                          <a:latin typeface="Calibri"/>
                          <a:cs typeface="Calibri"/>
                        </a:rPr>
                        <a:t>fingertips.</a:t>
                      </a:r>
                      <a:endParaRPr sz="37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2300" y="8191500"/>
            <a:ext cx="1054100" cy="1041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93300" y="3162300"/>
            <a:ext cx="812800" cy="660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39500" y="3314700"/>
            <a:ext cx="469900" cy="508000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0998200" y="3149600"/>
            <a:ext cx="152400" cy="673100"/>
            <a:chOff x="10998200" y="3149600"/>
            <a:chExt cx="152400" cy="673100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98200" y="3149600"/>
              <a:ext cx="152400" cy="6731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98200" y="3149600"/>
              <a:ext cx="152400" cy="6731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697242" y="2780594"/>
            <a:ext cx="12040870" cy="1253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41790" algn="l"/>
              </a:tabLst>
            </a:pPr>
            <a:r>
              <a:rPr dirty="0" sz="8050" spc="-530">
                <a:solidFill>
                  <a:srgbClr val="232323"/>
                </a:solidFill>
                <a:latin typeface="Arial MT"/>
                <a:cs typeface="Arial MT"/>
              </a:rPr>
              <a:t>See</a:t>
            </a:r>
            <a:r>
              <a:rPr dirty="0" sz="8050" spc="-7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8050" spc="-335">
                <a:solidFill>
                  <a:srgbClr val="232323"/>
                </a:solidFill>
                <a:latin typeface="Arial MT"/>
                <a:cs typeface="Arial MT"/>
              </a:rPr>
              <a:t>RetailSense</a:t>
            </a:r>
            <a:r>
              <a:rPr dirty="0" sz="8050">
                <a:solidFill>
                  <a:srgbClr val="232323"/>
                </a:solidFill>
                <a:latin typeface="Arial MT"/>
                <a:cs typeface="Arial MT"/>
              </a:rPr>
              <a:t>	</a:t>
            </a:r>
            <a:r>
              <a:rPr dirty="0" sz="8050" spc="-70">
                <a:solidFill>
                  <a:srgbClr val="232323"/>
                </a:solidFill>
                <a:latin typeface="Arial MT"/>
                <a:cs typeface="Arial MT"/>
              </a:rPr>
              <a:t>Action</a:t>
            </a:r>
            <a:endParaRPr sz="80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3359899" y="4267552"/>
            <a:ext cx="10706735" cy="118364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049020" marR="5080" indent="-1036319">
              <a:lnSpc>
                <a:spcPts val="4200"/>
              </a:lnSpc>
              <a:spcBef>
                <a:spcPts val="835"/>
              </a:spcBef>
            </a:pPr>
            <a:r>
              <a:rPr dirty="0" sz="4100" spc="-240">
                <a:latin typeface="Calibri"/>
                <a:cs typeface="Calibri"/>
              </a:rPr>
              <a:t>Request</a:t>
            </a:r>
            <a:r>
              <a:rPr dirty="0" sz="4100" spc="5">
                <a:latin typeface="Calibri"/>
                <a:cs typeface="Calibri"/>
              </a:rPr>
              <a:t> </a:t>
            </a:r>
            <a:r>
              <a:rPr dirty="0" sz="4100" spc="114">
                <a:latin typeface="Calibri"/>
                <a:cs typeface="Calibri"/>
              </a:rPr>
              <a:t>a</a:t>
            </a:r>
            <a:r>
              <a:rPr dirty="0" sz="4100" spc="-425">
                <a:latin typeface="Calibri"/>
                <a:cs typeface="Calibri"/>
              </a:rPr>
              <a:t> </a:t>
            </a:r>
            <a:r>
              <a:rPr dirty="0" sz="4100" spc="-215">
                <a:latin typeface="Calibri"/>
                <a:cs typeface="Calibri"/>
              </a:rPr>
              <a:t>personalised</a:t>
            </a:r>
            <a:r>
              <a:rPr dirty="0" sz="4100" spc="75">
                <a:latin typeface="Calibri"/>
                <a:cs typeface="Calibri"/>
              </a:rPr>
              <a:t> </a:t>
            </a:r>
            <a:r>
              <a:rPr dirty="0" sz="4100" spc="-365">
                <a:latin typeface="Calibri"/>
                <a:cs typeface="Calibri"/>
              </a:rPr>
              <a:t>demo</a:t>
            </a:r>
            <a:r>
              <a:rPr dirty="0" sz="4100" spc="-70">
                <a:latin typeface="Calibri"/>
                <a:cs typeface="Calibri"/>
              </a:rPr>
              <a:t> </a:t>
            </a:r>
            <a:r>
              <a:rPr dirty="0" sz="4100" spc="-290">
                <a:latin typeface="Calibri"/>
                <a:cs typeface="Calibri"/>
              </a:rPr>
              <a:t>today</a:t>
            </a:r>
            <a:r>
              <a:rPr dirty="0" sz="4100" spc="10">
                <a:latin typeface="Calibri"/>
                <a:cs typeface="Calibri"/>
              </a:rPr>
              <a:t> </a:t>
            </a:r>
            <a:r>
              <a:rPr dirty="0" sz="4100" spc="-325">
                <a:latin typeface="Calibri"/>
                <a:cs typeface="Calibri"/>
              </a:rPr>
              <a:t>to</a:t>
            </a:r>
            <a:r>
              <a:rPr dirty="0" sz="4100" spc="-150">
                <a:latin typeface="Calibri"/>
                <a:cs typeface="Calibri"/>
              </a:rPr>
              <a:t> </a:t>
            </a:r>
            <a:r>
              <a:rPr dirty="0" sz="4100" spc="-200">
                <a:latin typeface="Calibri"/>
                <a:cs typeface="Calibri"/>
              </a:rPr>
              <a:t>see</a:t>
            </a:r>
            <a:r>
              <a:rPr dirty="0" sz="4100" spc="-175">
                <a:latin typeface="Calibri"/>
                <a:cs typeface="Calibri"/>
              </a:rPr>
              <a:t> </a:t>
            </a:r>
            <a:r>
              <a:rPr dirty="0" sz="4100" spc="-390">
                <a:latin typeface="Calibri"/>
                <a:cs typeface="Calibri"/>
              </a:rPr>
              <a:t>how</a:t>
            </a:r>
            <a:r>
              <a:rPr dirty="0" sz="4100" spc="-60">
                <a:latin typeface="Calibri"/>
                <a:cs typeface="Calibri"/>
              </a:rPr>
              <a:t> </a:t>
            </a:r>
            <a:r>
              <a:rPr dirty="0" sz="4100" spc="-200">
                <a:latin typeface="Calibri"/>
                <a:cs typeface="Calibri"/>
              </a:rPr>
              <a:t>intelligent </a:t>
            </a:r>
            <a:r>
              <a:rPr dirty="0" sz="4100" spc="-340">
                <a:latin typeface="Calibri"/>
                <a:cs typeface="Calibri"/>
              </a:rPr>
              <a:t>automation</a:t>
            </a:r>
            <a:r>
              <a:rPr dirty="0" sz="4100" spc="235">
                <a:latin typeface="Calibri"/>
                <a:cs typeface="Calibri"/>
              </a:rPr>
              <a:t> </a:t>
            </a:r>
            <a:r>
              <a:rPr dirty="0" sz="4100" spc="-245">
                <a:latin typeface="Calibri"/>
                <a:cs typeface="Calibri"/>
              </a:rPr>
              <a:t>can</a:t>
            </a:r>
            <a:r>
              <a:rPr dirty="0" sz="4100" spc="-90">
                <a:latin typeface="Calibri"/>
                <a:cs typeface="Calibri"/>
              </a:rPr>
              <a:t> </a:t>
            </a:r>
            <a:r>
              <a:rPr dirty="0" sz="4100" spc="-285">
                <a:latin typeface="Calibri"/>
                <a:cs typeface="Calibri"/>
              </a:rPr>
              <a:t>transform</a:t>
            </a:r>
            <a:r>
              <a:rPr dirty="0" sz="4100" spc="190">
                <a:latin typeface="Calibri"/>
                <a:cs typeface="Calibri"/>
              </a:rPr>
              <a:t> </a:t>
            </a:r>
            <a:r>
              <a:rPr dirty="0" sz="4100" spc="-310">
                <a:latin typeface="Calibri"/>
                <a:cs typeface="Calibri"/>
              </a:rPr>
              <a:t>your</a:t>
            </a:r>
            <a:r>
              <a:rPr dirty="0" sz="4100" spc="-110">
                <a:latin typeface="Calibri"/>
                <a:cs typeface="Calibri"/>
              </a:rPr>
              <a:t> </a:t>
            </a:r>
            <a:r>
              <a:rPr dirty="0" sz="4100" spc="-170">
                <a:latin typeface="Calibri"/>
                <a:cs typeface="Calibri"/>
              </a:rPr>
              <a:t>retail</a:t>
            </a:r>
            <a:r>
              <a:rPr dirty="0" sz="4100" spc="-335">
                <a:latin typeface="Calibri"/>
                <a:cs typeface="Calibri"/>
              </a:rPr>
              <a:t> </a:t>
            </a:r>
            <a:r>
              <a:rPr dirty="0" sz="4100" spc="-60">
                <a:latin typeface="Calibri"/>
                <a:cs typeface="Calibri"/>
              </a:rPr>
              <a:t>business.</a:t>
            </a:r>
            <a:endParaRPr sz="4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2025-12-12T01:22:12Z</dcterms:created>
  <dcterms:modified xsi:type="dcterms:W3CDTF">2025-12-12T01:22:12Z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2025-12-12T00:00:00Z</vt:filetime>
  </property>
  <property fmtid="{D5CDD505-2E9C-101B-9397-08002B2CF9AE}" pid="3" name="LastSaved">
    <vt:filetime>2025-12-12T00:00:00Z</vt:filetime>
  </property>
</Properties>
</file>